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7999"/>
            <a:ext cx="1281600" cy="360000"/>
          </a:xfrm>
          <a:prstGeom prst="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구  분</a:t>
            </a:r>
          </a:p>
        </p:txBody>
      </p:sp>
      <p:sp>
        <p:nvSpPr>
          <p:cNvPr id="3" name="Rectangle 2"/>
          <p:cNvSpPr/>
          <p:nvPr/>
        </p:nvSpPr>
        <p:spPr>
          <a:xfrm>
            <a:off x="1738800" y="1007999"/>
            <a:ext cx="5943600" cy="360000"/>
          </a:xfrm>
          <a:prstGeom prst="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사업내용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68000"/>
            <a:ext cx="1281600" cy="11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데이터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인프라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8800" y="1368000"/>
            <a:ext cx="5943600" cy="11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데이터 수집 파이프라인 구축 (원천 연계, 출처태그 자동 부착)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Hot·Warm·Cold 티어 스토리지 아키텍처 구축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금융문서 특화 파싱·청킹·임베딩 처리 파이프라인 (HWP·PDF·Oracle CLOB 파서 내장)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56000"/>
            <a:ext cx="12816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플랫폼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8800" y="2556000"/>
            <a:ext cx="59436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워크플로우 엔진 및 품질관리 시스템 개발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메타데이터·리니지·버전 관리 체계 구축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검색 포털·API/SDK·API Gateway 개발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정형/비정형 실시간 비식별화 처리 (펜타시스템 협력)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96000"/>
            <a:ext cx="12816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AI 연계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8800" y="3996000"/>
            <a:ext cx="59436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MCP Server 기반 멀티에이전트 연동 아키텍처 구현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하이브리드 시맨틱-벡터 검색 엔진 구축 (BD 협력)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○ 영업점 상담 Q&amp;A·여신심사 비정형 요약·AML 탐지 등 킬러앱 즉시 가동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000" y="720000"/>
            <a:ext cx="3841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13A6B"/>
                </a:solidFill>
                <a:latin typeface="맑은 고딕"/>
              </a:rPr>
              <a:t>추진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000" y="1440000"/>
            <a:ext cx="40248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맑은 고딕"/>
              </a:rPr>
              <a:t>• 파편화된 비정형 데이터를 AI가 즉시 활용 가능한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맑은 고딕"/>
              </a:rPr>
              <a:t>'AI-Ready All-Data' 체계로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000" y="2628000"/>
            <a:ext cx="40248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맑은 고딕"/>
              </a:rPr>
              <a:t>• Hot·Warm·Cold 티어링으로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맑은 고딕"/>
              </a:rPr>
              <a:t>5년 스토리지 TCO 60%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000" y="3816000"/>
            <a:ext cx="40248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맑은 고딕"/>
              </a:rPr>
              <a:t>• 개인정보보호법·신용정보법·전금법 완벽 준수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맑은 고딕"/>
              </a:rPr>
              <a:t>— 망분리·DRM·비식별화 내재화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000" y="5003999"/>
            <a:ext cx="40248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맑은 고딕"/>
              </a:rPr>
              <a:t>• MCP 기반 에이전트 아키텍처로 구축 즉시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맑은 고딕"/>
              </a:rPr>
              <a:t>현업이 자율적 AI 서비스 확장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0000"/>
            <a:ext cx="10972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3A6B"/>
                </a:solidFill>
                <a:latin typeface="맑은 고딕"/>
              </a:rPr>
              <a:t>1. 고객/사업 현황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6000"/>
            <a:ext cx="2012400" cy="360000"/>
          </a:xfrm>
          <a:prstGeom prst="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과업범위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9600" y="1116000"/>
            <a:ext cx="9266400" cy="360000"/>
          </a:xfrm>
          <a:prstGeom prst="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고객니즈/페인포인트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75999"/>
            <a:ext cx="2012400" cy="12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데이터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인프라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9600" y="1475999"/>
            <a:ext cx="9266400" cy="12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[데이터 파편화] 약관·상품설명서·여신서류 등 비정형 데이터 사일로 — AI 학습 불가 구조 직면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[DRM 복호화] 내부 DRM 걸린 문서 복호화 처리 및 감사로그 필요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[망분리 환경] 개발망·운영망 분리 환경에서 온프레미스 임베딩 모델 운용 필수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71999"/>
            <a:ext cx="2012400" cy="12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플랫폼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개발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9600" y="2771999"/>
            <a:ext cx="9266400" cy="12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[레거시 연계] Oracle CLOB/BLOB 등 기존 코어시스템과의 안정적 데이터 연계 요구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[컴플라이언스] 개인정보보호법·신용정보법·전금법 대응 비식별화 체계 구축 필요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[데이터 이관] 초기 1TB/100만 건 + 일 10GB/4,000건 증분 수용 가능한 확장형 아키텍처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67999"/>
            <a:ext cx="2012400" cy="12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AI 연계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9600" y="4067999"/>
            <a:ext cx="9266400" cy="12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[AI 확장성] 구축 후 현업이 자율적으로 AI 서비스 확장 가능한 오픈 환경 요구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[업무 자동화] 영업점 Q&amp;A·여신심사 요약·AML 탐지 등 실무 킬러앱 즉시 적용 원함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[운영 안정성] 장기 운영비(구축비의 5배) 절감 및 지속 가능한 운영체계 요구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0000"/>
            <a:ext cx="109728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맑은 고딕"/>
              </a:rPr>
              <a:t>* 평가 위원 현황: 하나은행 IT·디지털혁신·데이터·컴플라이언스 담당 부서 실무자 구성 예상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0000"/>
            <a:ext cx="10972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3A6B"/>
                </a:solidFill>
                <a:latin typeface="맑은 고딕"/>
              </a:rPr>
              <a:t>2. 경쟁 현황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6000"/>
            <a:ext cx="1828800" cy="360000"/>
          </a:xfrm>
          <a:prstGeom prst="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과업범위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116000"/>
            <a:ext cx="4680000" cy="360000"/>
          </a:xfrm>
          <a:prstGeom prst="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200" b="1">
                <a:solidFill>
                  <a:srgbClr val="1F2933"/>
                </a:solidFill>
                <a:latin typeface="맑은 고딕"/>
              </a:rPr>
              <a:t>KT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66000" y="1116000"/>
            <a:ext cx="4680000" cy="360000"/>
          </a:xfrm>
          <a:prstGeom prst="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200" b="1">
                <a:solidFill>
                  <a:srgbClr val="1F2933"/>
                </a:solidFill>
                <a:latin typeface="맑은 고딕"/>
              </a:rPr>
              <a:t>삼성SDS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75999"/>
            <a:ext cx="1828800" cy="15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데이터·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플랫폼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75999"/>
            <a:ext cx="4680000" cy="15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컨소시엄 수행 예상 영역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협력: weda(파이프라인)·BD(검색)·펜타시스템(비식별화)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ES 기반 글로벌 금융 표준 — 락인 리스크 없음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HWP·CLOB 파서, DRM 복호화 API 내재화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단, ES 라이선스 비용으로 입찰가 여유 제한적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6000" y="1475999"/>
            <a:ext cx="4680000" cy="15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주관사 수행 예상 영역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Brightics AI 자체솔루션 기반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라이선스 비용 없음 → 입찰가 낮출 가능성 ↑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금융 특화 파서·비식별화 별도 조달 필요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자체솔루션 유지보수 종속 리스크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6000" y="1530000"/>
            <a:ext cx="648000" cy="234000"/>
          </a:xfrm>
          <a:prstGeom prst="rect">
            <a:avLst/>
          </a:prstGeom>
          <a:solidFill>
            <a:srgbClr val="C0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열위(가격)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26000" y="1530000"/>
            <a:ext cx="648000" cy="2340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우위(가격)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23999"/>
            <a:ext cx="1828800" cy="15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인프라·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운영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023999"/>
            <a:ext cx="4680000" cy="15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주관사 수행 예상 영역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KT 통신 인프라 운영 DNA 기반 99.9% SLA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Hot/Warm/Cold 티어링 TCO 60% 절감 비교표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온프레미스 임베딩 → 외부 토큰 비용 제거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망분리 환경 안정적 운영 레퍼런스 보유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66000" y="3023999"/>
            <a:ext cx="4680000" cy="15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컨소시엄 수행 예상 영역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대형 금융 인프라 레퍼런스 보유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자사솔루션 기반 운영 종속 구조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외부 LLM 의존 시 운영비 예측 어려움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6000" y="3077999"/>
            <a:ext cx="648000" cy="2340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우위(운영)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26000" y="3077999"/>
            <a:ext cx="648000" cy="234000"/>
          </a:xfrm>
          <a:prstGeom prst="rect">
            <a:avLst/>
          </a:prstGeom>
          <a:solidFill>
            <a:srgbClr val="C0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열위(운영)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8288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AI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연계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572000"/>
            <a:ext cx="468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MCP Server 기반 즉시 가동 — 킬러앱 청사진 제시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구축 즉시 영업점 Q&amp;A·여신심사·AML 적용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규제 변경 → 내규 매핑 자동화 선제 제안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장기 선진 로드맵(NGA 모델) 컨설팅 제공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6000" y="4572000"/>
            <a:ext cx="468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플랫폼 구축 중심, AI 비즈니스 청사진 부재 가능성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Brightics 에코시스템 내 에이전트 확장 제한</a:t>
            </a:r>
          </a:p>
          <a:p>
            <a:pPr algn="l"/>
            <a:r>
              <a:rPr sz="850" b="0">
                <a:solidFill>
                  <a:srgbClr val="1F2933"/>
                </a:solidFill>
                <a:latin typeface="맑은 고딕"/>
              </a:rPr>
              <a:t>• ISP 수행 시 기간연장·비용 증가 이슈 선례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6000" y="4626000"/>
            <a:ext cx="648000" cy="2340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우위(확장성)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26000" y="4626000"/>
            <a:ext cx="648000" cy="234000"/>
          </a:xfrm>
          <a:prstGeom prst="rect">
            <a:avLst/>
          </a:prstGeom>
          <a:solidFill>
            <a:srgbClr val="C0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열위(확장성)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2000"/>
            <a:ext cx="109728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맑은 고딕"/>
              </a:rPr>
              <a:t>* LG CNS: 참여 의지 약함 (영업 정보) — 사실상 KT vs 삼성SDS 2파전 구도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0000"/>
            <a:ext cx="10972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3A6B"/>
                </a:solidFill>
                <a:latin typeface="맑은 고딕"/>
              </a:rPr>
              <a:t>3. 차별화 아이템 도출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6000"/>
            <a:ext cx="2012400" cy="360000"/>
          </a:xfrm>
          <a:prstGeom prst="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과업범위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9600" y="1116000"/>
            <a:ext cx="9266400" cy="360000"/>
          </a:xfrm>
          <a:prstGeom prst="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KT 차별화 아이템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75999"/>
            <a:ext cx="2012400" cy="12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데이터·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플랫폼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개발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9600" y="1475999"/>
            <a:ext cx="9266400" cy="12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[오픈소스 표준] ES 기반 글로벌 금융 표준(JPMorgan·Goldman Sachs) — 삼성SDS 자체솔루션 대비 락인 리스크 Zero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[금융 특화 파서] HWP 파서 내장·Oracle CLOB/BLOB 직연계·DRM 복호화 API+감사로그 기본 제공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[2-Pass 클렌징] 입수 시점 + AI 처리 후 이중 품질 검증 → 오류율 0.5% 이하 보장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71999"/>
            <a:ext cx="2012400" cy="15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인프라·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운영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9600" y="2771999"/>
            <a:ext cx="9266400" cy="15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[TCO 절감] Hot/Warm/Cold 티어링 → 스토리지 5년 TCO 60% 절감 비교표 + KT Cloud 할인율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   - Hot(SSD/ES): 최근 6개월만 인덱싱 / Warm(HDD): 6개월~2년 / Cold(S3): 2년 이상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[운영 DNA] 통신 인프라 운영 노하우 기반 99.9% SLA — '멈추지 않는 운영'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[비용 예측] KT Cloud + 온프레미스 임베딩 모델 → 외부 LLM 토큰 비용 의존 제거, 구축:운영 비율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83999"/>
            <a:ext cx="2012400" cy="13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AI</a:t>
            </a:r>
          </a:p>
          <a:p>
            <a:pPr algn="l"/>
            <a:r>
              <a:rPr sz="1050" b="1">
                <a:solidFill>
                  <a:srgbClr val="1F2933"/>
                </a:solidFill>
                <a:latin typeface="맑은 고딕"/>
              </a:rPr>
              <a:t>연계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9600" y="4283999"/>
            <a:ext cx="9266400" cy="13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[즉시 가동] MCP Server → 구축 즉시 영업점 Q&amp;A·여신심사 요약·AML 탐지 3대 킬러앱 적용 (추가 제안)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[컴플라이언스 자동화] 규제 변경 감지 → 내규 영향도 자동 매핑 → 감사 대응 선제 제안</a:t>
            </a:r>
          </a:p>
          <a:p>
            <a:pPr algn="l"/>
            <a:r>
              <a:rPr sz="950" b="0">
                <a:solidFill>
                  <a:srgbClr val="1F2933"/>
                </a:solidFill>
                <a:latin typeface="맑은 고딕"/>
              </a:rPr>
              <a:t>• [장기 로드맵] 선진 금융 데이터 생태계(NGA 모델) 전환 로드맵 및 위성 전문가 컨설팅 제공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