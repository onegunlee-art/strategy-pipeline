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914400"/>
            <a:ext cx="7315200" cy="7315200"/>
          </a:xfrm>
          <a:prstGeom prst="ellipse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3657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algun Gothic"/>
              </a:rPr>
              <a:t>전략 인텔리전스 데모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D4FF"/>
                </a:solidFill>
                <a:latin typeface="Malgun Gothic"/>
              </a:rPr>
              <a:t>수주전략  ×  지정학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9BB8"/>
                </a:solidFill>
                <a:latin typeface="Malgun Gothic"/>
              </a:rPr>
              <a:t>"같은 엔진으로 두 가지 불확실성을 다룬다"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우리가 해결하는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07040" cy="9144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Malgun Gothic"/>
              </a:rPr>
              <a:t>①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"이 딜, 지금 몇 % 가능성인가?"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0607040" cy="9144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7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Malgun Gothic"/>
              </a:rPr>
              <a:t>②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7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"지정학 이슈가 우리 사업에 미치는 영향은?"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0607040" cy="9144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Malgun Gothic"/>
              </a:rPr>
              <a:t>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43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"임원들이 같은 방향을 보고 있는가?"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607040" cy="73152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FFA3"/>
                </a:solidFill>
                <a:latin typeface="Malgun Gothic"/>
              </a:rPr>
              <a:t>→  데이터는 있다.  판단 구조가 없다.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시스템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solidFill>
            <a:srgbClr val="0A1A2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Malgun Gothic"/>
              </a:rPr>
              <a:t>the gist.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300+ 기사 RAG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충돌점 / 일치점 분석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AI 인사이트 자동생성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고객 서비스 중 — 읽기만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A3"/>
                </a:solidFill>
                <a:latin typeface="Malgun Gothic"/>
              </a:rPr>
              <a:t>결과만 전송 (read-only)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</a:rPr>
              <a:t>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45920"/>
            <a:ext cx="5943600" cy="411480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FFA3"/>
                </a:solidFill>
                <a:latin typeface="Malgun Gothic"/>
              </a:rPr>
              <a:t>전략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68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드라이버 점수 추출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확률 분포 계산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임원 시그널 버튼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Polymarket 비교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A9BB8"/>
                </a:solidFill>
                <a:latin typeface="Malgun Gothic"/>
              </a:rPr>
              <a:t>• 리포트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600"/>
                </a:solidFill>
                <a:latin typeface="Malgun Gothic"/>
              </a:rPr>
              <a:t>수주전략 동일 엔진 재사용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데모 플로우 (12분)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5564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Malgun Gothic"/>
              </a:rPr>
              <a:t>① 주제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83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"이란 전쟼 종전 가능성"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33472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9BB8"/>
                </a:solidFill>
                <a:latin typeface="Malgun Gothic"/>
              </a:rPr>
              <a:t>② GIST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706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기사 20건 · 충돌점 6 · 일치점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21024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Malgun Gothic"/>
              </a:rPr>
              <a:t>③ AI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5818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드라이버 점수 · 확률 22% · 범위 ±12%p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08576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Malgun Gothic"/>
              </a:rPr>
              <a:t>④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74573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Polymarket 34%  vs  우리 22%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96128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0585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Malgun Gothic"/>
              </a:rPr>
              <a:t>⑤ 블라인드 투표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7332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QR 스캔 · 시그널 버튼 클릭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645920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75564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D6D"/>
                </a:solidFill>
                <a:latin typeface="Malgun Gothic"/>
              </a:rPr>
              <a:t>⑥ 공개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783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분포 갱신 · 이견 가시화  ← WOW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33472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Malgun Gothic"/>
              </a:rPr>
              <a:t>⑦ 인사이트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7706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가장 중요한 드라이버 표시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621024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7307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Malgun Gothic"/>
              </a:rPr>
              <a:t>⑧ 딜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5818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우리 수주 파이프라인 영향  ← WOW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608576"/>
            <a:ext cx="5760720" cy="8229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71830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⑨ 리포트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74573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SG 제주 포맷 · PDF 다운로드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743200" cy="381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화면 ①  드라이버 + 확률 분포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Malgun Gothic"/>
              </a:rPr>
              <a:t>드라이버 분석 (AI 초안)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외교 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542032"/>
            <a:ext cx="2560320" cy="25603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2542032"/>
            <a:ext cx="768095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3/10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군사 강도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200400"/>
            <a:ext cx="2560320" cy="25603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3200400"/>
            <a:ext cx="1792223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31272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7/10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856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경제 압박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858768"/>
            <a:ext cx="2560320" cy="25603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3858768"/>
            <a:ext cx="1536191" cy="2560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78561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6/10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439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이란 내부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4517136"/>
            <a:ext cx="2560320" cy="25603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4517136"/>
            <a:ext cx="768095" cy="2560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44439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3/10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023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호르무즈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175504"/>
            <a:ext cx="2560320" cy="256032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5175504"/>
            <a:ext cx="1024127" cy="2560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51023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4/10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</a:rPr>
              <a:t>충돌 기사 6건 → 불확실성 ±12%p 자동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Malgun Gothic"/>
              </a:rPr>
              <a:t>종전 가능성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773168"/>
            <a:ext cx="310896" cy="256032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4032" y="4517136"/>
            <a:ext cx="310896" cy="512064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1504" y="4005072"/>
            <a:ext cx="310896" cy="1024128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08976" y="3236976"/>
            <a:ext cx="310896" cy="179222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2724911"/>
            <a:ext cx="310896" cy="2304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2980944"/>
            <a:ext cx="310896" cy="204825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51392" y="3493008"/>
            <a:ext cx="310896" cy="15361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98864" y="4005072"/>
            <a:ext cx="310896" cy="1024128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46336" y="4517136"/>
            <a:ext cx="310896" cy="512064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93808" y="4773168"/>
            <a:ext cx="310896" cy="256032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</a:rPr>
              <a:t>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120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algun Gothic"/>
              </a:rPr>
              <a:t>22%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5120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</a:rPr>
              <a:t>34%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577840"/>
            <a:ext cx="5303520" cy="50292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669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A3"/>
                </a:solidFill>
                <a:latin typeface="Malgun Gothic"/>
              </a:rPr>
              <a:t>범위: ±12%p  |  충돌 기사 많을수록 넓어짐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7432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화면 ②  Polymarket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Malgun Gothic"/>
              </a:rPr>
              <a:t>우리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D4FF"/>
                </a:solidFill>
                <a:latin typeface="Malgun Gothic"/>
              </a:rPr>
              <a:t>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</a:rPr>
              <a:t>±12%p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9BB8"/>
                </a:solidFill>
                <a:latin typeface="Malgun Gothic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5029200" cy="320040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600"/>
                </a:solidFill>
                <a:latin typeface="Malgun Gothic"/>
              </a:rPr>
              <a:t>Polymarket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D600"/>
                </a:solidFill>
                <a:latin typeface="Malgun Gothic"/>
              </a:rPr>
              <a:t>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</a:rPr>
              <a:t>시장 집단지성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A3"/>
                </a:solidFill>
                <a:latin typeface="Malgun Gothic"/>
              </a:rPr>
              <a:t>차이  -12%p  →  호르무즈 레버리지 변수를 시장이 아직 미반영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이것이 우리 분석의 엣지 (Judgement Moat)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화면 ③  블라인드 투표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669280" cy="475488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프로젝터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94560"/>
            <a:ext cx="2743200" cy="2286000"/>
          </a:xfrm>
          <a:prstGeom prst="rect">
            <a:avLst/>
          </a:prstGeom>
          <a:solidFill>
            <a:srgbClr val="1E2D4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D4FF"/>
                </a:solidFill>
                <a:latin typeface="Malgun Gothic"/>
              </a:rPr>
              <a:t>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BB8"/>
                </a:solidFill>
                <a:latin typeface="Malgun Gothic"/>
              </a:rPr>
              <a:t>각자 폰으로 스캔하세요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600"/>
                </a:solidFill>
                <a:latin typeface="Malgun Gothic"/>
              </a:rPr>
              <a:t>참여: 3/5명  ⏱ 01:20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</a:rPr>
              <a:t>결과는 모두 제출 후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554480"/>
            <a:ext cx="5120640" cy="475488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임원 폰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이란 전쟼 종전 가능성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4FF"/>
                </a:solidFill>
                <a:latin typeface="Malgun Gothic"/>
              </a:rPr>
              <a:t>AI 추정: 22%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971800"/>
            <a:ext cx="2240280" cy="5029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FFA3"/>
                </a:solidFill>
                <a:latin typeface="Malgun Gothic"/>
              </a:rPr>
              <a:t>협상 재개 소식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971800"/>
            <a:ext cx="2240280" cy="5029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4D6D"/>
                </a:solidFill>
                <a:latin typeface="Malgun Gothic"/>
              </a:rPr>
              <a:t>협상 결렬 선언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657600"/>
            <a:ext cx="2240280" cy="5029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FFA3"/>
                </a:solidFill>
                <a:latin typeface="Malgun Gothic"/>
              </a:rPr>
              <a:t>공습 중단 발표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657600"/>
            <a:ext cx="2240280" cy="5029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4D6D"/>
                </a:solidFill>
                <a:latin typeface="Malgun Gothic"/>
              </a:rPr>
              <a:t>공습 빈도 증가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343400"/>
            <a:ext cx="2240280" cy="5029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FFA3"/>
                </a:solidFill>
                <a:latin typeface="Malgun Gothic"/>
              </a:rPr>
              <a:t>제재 완화 신호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343400"/>
            <a:ext cx="2240280" cy="5029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4D6D"/>
                </a:solidFill>
                <a:latin typeface="Malgun Gothic"/>
              </a:rPr>
              <a:t>호르무즈 봉쇄 강화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0" cy="381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화면 ④  결과 공개  ★ 핵심 WOW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438912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Malgun Gothic"/>
              </a:rPr>
              <a:t>투표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김 부사장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협상 재개 소식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A3"/>
                </a:solidFill>
                <a:latin typeface="Malgun Gothic"/>
              </a:rPr>
              <a:t>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이 본부장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443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4D6D"/>
                </a:solidFill>
                <a:latin typeface="Malgun Gothic"/>
              </a:rPr>
              <a:t>공습 빈도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443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D6D"/>
                </a:solidFill>
                <a:latin typeface="Malgun Gothic"/>
              </a:rP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박 상무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027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제재 완화 신호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027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A3"/>
                </a:solidFill>
                <a:latin typeface="Malgun Gothic"/>
              </a:rPr>
              <a:t>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611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최 팀장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611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4D6D"/>
                </a:solidFill>
                <a:latin typeface="Malgun Gothic"/>
              </a:rPr>
              <a:t>강경파 집권 신호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611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D6D"/>
                </a:solidFill>
                <a:latin typeface="Malgun Gothic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정 상무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9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협상 재개 소식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194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A3"/>
                </a:solidFill>
                <a:latin typeface="Malgun Gothic"/>
              </a:rPr>
              <a:t>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32120"/>
            <a:ext cx="530352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961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A3"/>
                </a:solidFill>
                <a:latin typeface="Malgun Gothic"/>
              </a:rPr>
              <a:t>낙관 3명 / 비관 2명  →  이견 자체가 정보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554480"/>
            <a:ext cx="5486400" cy="438912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Malgun Gothic"/>
              </a:rPr>
              <a:t>확률 분포 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B8"/>
                </a:solidFill>
                <a:latin typeface="Malgun Gothic"/>
              </a:rPr>
              <a:t>투표 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931920"/>
            <a:ext cx="237744" cy="18288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59" y="3749039"/>
            <a:ext cx="237744" cy="36576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79" y="3383280"/>
            <a:ext cx="237744" cy="7315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834639"/>
            <a:ext cx="237744" cy="128016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19" y="2468880"/>
            <a:ext cx="237744" cy="16459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2651760"/>
            <a:ext cx="237744" cy="146304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59" y="3017520"/>
            <a:ext cx="237744" cy="109728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3383280"/>
            <a:ext cx="237744" cy="73152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6800" y="3749039"/>
            <a:ext cx="237744" cy="36576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19" y="3931920"/>
            <a:ext cx="237744" cy="18288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</a:rPr>
              <a:t>22%  ±12%p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algun Gothic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A3"/>
                </a:solidFill>
                <a:latin typeface="Malgun Gothic"/>
              </a:rPr>
              <a:t>투표 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3950208"/>
            <a:ext cx="219456" cy="164592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22992" y="3785615"/>
            <a:ext cx="219456" cy="329184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79024" y="3621024"/>
            <a:ext cx="219456" cy="493776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35056" y="3127248"/>
            <a:ext cx="219456" cy="9875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991088" y="2139696"/>
            <a:ext cx="219456" cy="197510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0" y="2304288"/>
            <a:ext cx="219456" cy="181051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03152" y="2962656"/>
            <a:ext cx="219456" cy="115214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759184" y="3621024"/>
            <a:ext cx="219456" cy="493776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15216" y="3950208"/>
            <a:ext cx="219456" cy="164592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271248" y="3950208"/>
            <a:ext cx="219456" cy="164592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696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A3"/>
                </a:solidFill>
                <a:latin typeface="Malgun Gothic"/>
              </a:rPr>
              <a:t>26%  ±7%p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532120"/>
            <a:ext cx="5486400" cy="45720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596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A3"/>
                </a:solidFill>
                <a:latin typeface="Malgun Gothic"/>
              </a:rPr>
              <a:t>22% → 26%  |  불확실성 ±12%p → ±7%p 감소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743200" cy="381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화면 ⑤  지금 무엇을 봐야 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외교 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65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4D6D"/>
                </a:solidFill>
                <a:latin typeface="Malgun Gothic"/>
              </a:rPr>
              <a:t>+1점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D6D"/>
                </a:solidFill>
                <a:latin typeface="Malgun Gothic"/>
              </a:rPr>
              <a:t>+9%p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600"/>
                </a:solidFill>
                <a:latin typeface="Malgun Gothic"/>
              </a:rPr>
              <a:t>★★★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최우선 모니터링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07791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36391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군사 강도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36391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600"/>
                </a:solidFill>
                <a:latin typeface="Malgun Gothic"/>
              </a:rPr>
              <a:t>-1점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36391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36391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600"/>
                </a:solidFill>
                <a:latin typeface="Malgun Gothic"/>
              </a:rPr>
              <a:t>+6%p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3639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600"/>
                </a:solidFill>
                <a:latin typeface="Malgun Gothic"/>
              </a:rPr>
              <a:t>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36391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공습 현황 추적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78224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0682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호르무즈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306824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600"/>
                </a:solidFill>
                <a:latin typeface="Malgun Gothic"/>
              </a:rPr>
              <a:t>-1점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0682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06824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600"/>
                </a:solidFill>
                <a:latin typeface="Malgun Gothic"/>
              </a:rPr>
              <a:t>+5%p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0682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600"/>
                </a:solidFill>
                <a:latin typeface="Malgun Gothic"/>
              </a:rPr>
              <a:t>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0682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해협 통항 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48656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7725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경제 압박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477256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+1점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47725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47725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A9BB8"/>
                </a:solidFill>
                <a:latin typeface="Malgun Gothic"/>
              </a:rPr>
              <a:t>+2%p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47725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600"/>
                </a:solidFill>
                <a:latin typeface="Malgun Gothic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47725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제재 동향 참고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solidFill>
            <a:srgbClr val="00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73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Malgun Gothic"/>
              </a:rPr>
              <a:t>→  협상 테이블 뉴스 하나가 확률을 9%p 움직입니다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화면 ⑥  지정학 → 수주전략 직결  ★ WOW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029200" cy="914400"/>
          </a:xfrm>
          <a:prstGeom prst="rect">
            <a:avLst/>
          </a:prstGeom>
          <a:solidFill>
            <a:srgbClr val="0A2A3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Malgun Gothic"/>
              </a:rPr>
              <a:t>이란 전쟼 종전 가능성  26%  반영 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제주 위성데이터센터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에너지 공급 리스크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971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4D6D"/>
                </a:solidFill>
                <a:latin typeface="Malgun Gothic"/>
              </a:rPr>
              <a:t>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xx 물류인프라 사업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60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납기 리스크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160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4D6D"/>
                </a:solidFill>
                <a:latin typeface="Malgun Gothic"/>
              </a:rPr>
              <a:t>▲ +8%p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yy 해저케이블 사업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49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B8"/>
                </a:solidFill>
                <a:latin typeface="Malgun Gothic"/>
              </a:rPr>
              <a:t>착공 지연 리스크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349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600"/>
                </a:solidFill>
                <a:latin typeface="Malgun Gothic"/>
              </a:rPr>
              <a:t>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solidFill>
            <a:srgbClr val="1A2A0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A3"/>
                </a:solidFill>
                <a:latin typeface="Malgun Gothic"/>
              </a:rPr>
              <a:t>"지정학 분석이 수주전략의 입력값이 된다"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왜 이게 다른가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solidFill>
            <a:srgbClr val="1E1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303520" cy="548640"/>
          </a:xfrm>
          <a:prstGeom prst="rect">
            <a:avLst/>
          </a:prstGeom>
          <a:solidFill>
            <a:srgbClr val="0A2A1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4D6D"/>
                </a:solidFill>
                <a:latin typeface="Malgun Gothic"/>
              </a:rPr>
              <a:t>기존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A3"/>
                </a:solidFill>
                <a:latin typeface="Malgun Gothic"/>
              </a:rPr>
              <a:t>이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✗  뉴스 보고 느낌으로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95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✓  드라이버로 구조화된 판단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90088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990088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99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✗  개인 직관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99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✓  집단 판단 + 이견 가시화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94176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94176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039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✗  단일 숫자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039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✓  분포 + 신뢰 구간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98264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98264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079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✗  Polymarket 모름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079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✓  Polymarket 실시간 비교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02352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5102352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✗  지정학 따로, 수주 따로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12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✓  지정학 → 수주 자동 연결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5806440"/>
            <a:ext cx="5303520" cy="59436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16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8"/>
                </a:solidFill>
                <a:latin typeface="Malgun Gothic"/>
              </a:rPr>
              <a:t>✗  리포트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16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A3"/>
                </a:solidFill>
                <a:latin typeface="Malgun Gothic"/>
              </a:rPr>
              <a:t>✓  즉시 발간 · PDF · 이메일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371600" cy="5486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E1A"/>
                </a:solidFill>
                <a:latin typeface="Malgun Gothic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7451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지금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7451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이란 전쟼 데모 완성 · SG 제주 포맷 리포트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1371600" cy="548640"/>
          </a:xfrm>
          <a:prstGeom prst="round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E1A"/>
                </a:solidFill>
                <a:latin typeface="Malgun Gothic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63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+2주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632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GIST API 연결 · 실데이터 파이프라인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371600" cy="54864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E1A"/>
                </a:solidFill>
                <a:latin typeface="Malgun Gothic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251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+1개월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519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임원 투표 → 수주전략 자동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21A2E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371600" cy="548640"/>
          </a:xfrm>
          <a:prstGeom prst="round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E1A"/>
                </a:solidFill>
                <a:latin typeface="Malgun Gothic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440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</a:rPr>
              <a:t>+3개월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4406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전딜 × 전이슈 실시간 워룸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solidFill>
            <a:srgbClr val="001A2A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47395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Malgun Gothic"/>
              </a:rPr>
              <a:t>"오늘 데모는 Phase 1 입니다"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