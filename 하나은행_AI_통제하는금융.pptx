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0000" cy="936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2000" y="162000"/>
            <a:ext cx="1980000" cy="19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162000"/>
            <a:ext cx="19800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1" i="0">
                <a:solidFill>
                  <a:srgbClr val="0A1628"/>
                </a:solidFill>
                <a:latin typeface="맑은 고딕"/>
              </a:rPr>
              <a:t>MASTER ARCHITECTURE  ·  AI를 통제하는 비정형 데이터 플랫폼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378000"/>
            <a:ext cx="11329200" cy="36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맑은 고딕"/>
              </a:rPr>
              <a:t>대고객 · 대직원 · 리스크를 구조적으로 해결하는 단 하나의 플랫폼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702000"/>
            <a:ext cx="113292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100" b="0" i="0">
                <a:solidFill>
                  <a:srgbClr val="00D4FF"/>
                </a:solidFill>
                <a:latin typeface="맑은 고딕"/>
              </a:rPr>
              <a:t>AI를 통제하는 금융, 하나은행 — 통제된 AI Agent 위에서 모든 판단이 움직인다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1080000"/>
            <a:ext cx="1620000" cy="936000"/>
          </a:xfrm>
          <a:prstGeom prst="rect">
            <a:avLst/>
          </a:prstGeom>
          <a:solidFill>
            <a:srgbClr val="132A4D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2000" y="1152000"/>
            <a:ext cx="16200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1" i="0">
                <a:solidFill>
                  <a:srgbClr val="00D4FF"/>
                </a:solidFill>
                <a:latin typeface="맑은 고딕"/>
              </a:rPr>
              <a:t>LAYER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00" y="1331999"/>
            <a:ext cx="1620000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</a:rPr>
              <a:t>통제된 AI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1583999"/>
            <a:ext cx="16200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0" i="0">
                <a:solidFill>
                  <a:srgbClr val="A0B8CC"/>
                </a:solidFill>
                <a:latin typeface="맑은 고딕"/>
              </a:rPr>
              <a:t>각 도메인 의사결정 실행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96000" y="1080000"/>
            <a:ext cx="3116400" cy="936000"/>
          </a:xfrm>
          <a:prstGeom prst="rect">
            <a:avLst/>
          </a:prstGeom>
          <a:solidFill>
            <a:srgbClr val="0D1F3C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196000" y="1080000"/>
            <a:ext cx="72000" cy="936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376000" y="1170000"/>
            <a:ext cx="720000" cy="180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76000" y="1170000"/>
            <a:ext cx="7200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000" b="1" i="0">
                <a:solidFill>
                  <a:srgbClr val="0A1628"/>
                </a:solidFill>
                <a:latin typeface="맑은 고딕"/>
              </a:rPr>
              <a:t>대고객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40000" y="1422000"/>
            <a:ext cx="2900400" cy="28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  <a:latin typeface="맑은 고딕"/>
              </a:rPr>
              <a:t>초개인화 상담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40000" y="1710000"/>
            <a:ext cx="2900400" cy="216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000" b="0" i="0">
                <a:solidFill>
                  <a:srgbClr val="CCD6E0"/>
                </a:solidFill>
                <a:latin typeface="맑은 고딕"/>
              </a:rPr>
              <a:t>▸  손님 맥락 즉시 파악 · 상품 추천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20400" y="1080000"/>
            <a:ext cx="3116400" cy="936000"/>
          </a:xfrm>
          <a:prstGeom prst="rect">
            <a:avLst/>
          </a:prstGeom>
          <a:solidFill>
            <a:srgbClr val="0D1F3C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20400" y="1080000"/>
            <a:ext cx="72000" cy="936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00400" y="1170000"/>
            <a:ext cx="720000" cy="180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00400" y="1170000"/>
            <a:ext cx="7200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000" b="1" i="0">
                <a:solidFill>
                  <a:srgbClr val="0A1628"/>
                </a:solidFill>
                <a:latin typeface="맑은 고딕"/>
              </a:rPr>
              <a:t>대직원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64400" y="1422000"/>
            <a:ext cx="2900400" cy="28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500" b="1" i="0">
                <a:solidFill>
                  <a:srgbClr val="FFD700"/>
                </a:solidFill>
                <a:latin typeface="맑은 고딕"/>
              </a:rPr>
              <a:t>업무 실행 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64400" y="1710000"/>
            <a:ext cx="2900400" cy="216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000" b="0" i="0">
                <a:solidFill>
                  <a:srgbClr val="CCD6E0"/>
                </a:solidFill>
                <a:latin typeface="맑은 고딕"/>
              </a:rPr>
              <a:t>▸  문서·규정·업무 자동화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44800" y="1080000"/>
            <a:ext cx="3116400" cy="936000"/>
          </a:xfrm>
          <a:prstGeom prst="rect">
            <a:avLst/>
          </a:prstGeom>
          <a:solidFill>
            <a:srgbClr val="0D1F3C"/>
          </a:solidFill>
          <a:ln w="127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44800" y="1080000"/>
            <a:ext cx="72000" cy="936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824800" y="1170000"/>
            <a:ext cx="720000" cy="180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24800" y="1170000"/>
            <a:ext cx="7200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000" b="1" i="0">
                <a:solidFill>
                  <a:srgbClr val="0A1628"/>
                </a:solidFill>
                <a:latin typeface="맑은 고딕"/>
              </a:rPr>
              <a:t>리스크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88800" y="1422000"/>
            <a:ext cx="2900400" cy="28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500" b="1" i="0">
                <a:solidFill>
                  <a:srgbClr val="FF6B35"/>
                </a:solidFill>
                <a:latin typeface="맑은 고딕"/>
              </a:rPr>
              <a:t>판단·통제 Agent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88800" y="1710000"/>
            <a:ext cx="2900400" cy="216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000" b="0" i="0">
                <a:solidFill>
                  <a:srgbClr val="CCD6E0"/>
                </a:solidFill>
                <a:latin typeface="맑은 고딕"/>
              </a:rPr>
              <a:t>▸  사고 예방 · 준법 · 심사 추적</a:t>
            </a:r>
          </a:p>
        </p:txBody>
      </p:sp>
      <p:sp>
        <p:nvSpPr>
          <p:cNvPr id="30" name="Down Arrow 29"/>
          <p:cNvSpPr/>
          <p:nvPr/>
        </p:nvSpPr>
        <p:spPr>
          <a:xfrm>
            <a:off x="3610200" y="2052000"/>
            <a:ext cx="288000" cy="198000"/>
          </a:xfrm>
          <a:prstGeom prst="downArrow">
            <a:avLst/>
          </a:prstGeom>
          <a:solidFill>
            <a:srgbClr val="008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6834600" y="2052000"/>
            <a:ext cx="288000" cy="198000"/>
          </a:xfrm>
          <a:prstGeom prst="downArrow">
            <a:avLst/>
          </a:prstGeom>
          <a:solidFill>
            <a:srgbClr val="008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own Arrow 31"/>
          <p:cNvSpPr/>
          <p:nvPr/>
        </p:nvSpPr>
        <p:spPr>
          <a:xfrm>
            <a:off x="10059000" y="2052000"/>
            <a:ext cx="288000" cy="198000"/>
          </a:xfrm>
          <a:prstGeom prst="downArrow">
            <a:avLst/>
          </a:prstGeom>
          <a:solidFill>
            <a:srgbClr val="008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2000" y="2303999"/>
            <a:ext cx="1620000" cy="864000"/>
          </a:xfrm>
          <a:prstGeom prst="rect">
            <a:avLst/>
          </a:prstGeom>
          <a:solidFill>
            <a:srgbClr val="132A4D"/>
          </a:solidFill>
          <a:ln w="9525">
            <a:solidFill>
              <a:srgbClr val="B4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2000" y="2375999"/>
            <a:ext cx="16200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1" i="0">
                <a:solidFill>
                  <a:srgbClr val="B46BFF"/>
                </a:solidFill>
                <a:latin typeface="맑은 고딕"/>
              </a:rPr>
              <a:t>LAYER 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2000" y="2555998"/>
            <a:ext cx="1620000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</a:rPr>
              <a:t>AI Governance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2000" y="2807998"/>
            <a:ext cx="16200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0" i="0">
                <a:solidFill>
                  <a:srgbClr val="A0B8CC"/>
                </a:solidFill>
                <a:latin typeface="맑은 고딕"/>
              </a:rPr>
              <a:t>통제 · 출처 · 감사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196000" y="2303999"/>
            <a:ext cx="1884240" cy="864000"/>
          </a:xfrm>
          <a:prstGeom prst="rect">
            <a:avLst/>
          </a:prstGeom>
          <a:solidFill>
            <a:srgbClr val="0D1F3C"/>
          </a:solidFill>
          <a:ln w="9525">
            <a:solidFill>
              <a:srgbClr val="B4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012121" y="2411999"/>
            <a:ext cx="251999" cy="251999"/>
          </a:xfrm>
          <a:prstGeom prst="ellipse">
            <a:avLst/>
          </a:prstGeom>
          <a:solidFill>
            <a:srgbClr val="B4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196000" y="2699999"/>
            <a:ext cx="1884240" cy="216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출처 추적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96000" y="2915999"/>
            <a:ext cx="188424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800" b="0" i="1">
                <a:solidFill>
                  <a:srgbClr val="A0B8CC"/>
                </a:solidFill>
                <a:latin typeface="맑은 고딕"/>
              </a:rPr>
              <a:t>Provenance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6240" y="2303999"/>
            <a:ext cx="1884240" cy="864000"/>
          </a:xfrm>
          <a:prstGeom prst="rect">
            <a:avLst/>
          </a:prstGeom>
          <a:solidFill>
            <a:srgbClr val="0D1F3C"/>
          </a:solidFill>
          <a:ln w="9525">
            <a:solidFill>
              <a:srgbClr val="B4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932361" y="2411999"/>
            <a:ext cx="251999" cy="251999"/>
          </a:xfrm>
          <a:prstGeom prst="ellipse">
            <a:avLst/>
          </a:prstGeom>
          <a:solidFill>
            <a:srgbClr val="B4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6240" y="2699999"/>
            <a:ext cx="1884240" cy="216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접근 통제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6240" y="2915999"/>
            <a:ext cx="188424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800" b="0" i="1">
                <a:solidFill>
                  <a:srgbClr val="A0B8CC"/>
                </a:solidFill>
                <a:latin typeface="맑은 고딕"/>
              </a:rPr>
              <a:t>Access Control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36480" y="2303999"/>
            <a:ext cx="1884240" cy="864000"/>
          </a:xfrm>
          <a:prstGeom prst="rect">
            <a:avLst/>
          </a:prstGeom>
          <a:solidFill>
            <a:srgbClr val="0D1F3C"/>
          </a:solidFill>
          <a:ln w="9525">
            <a:solidFill>
              <a:srgbClr val="B4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852601" y="2411999"/>
            <a:ext cx="251999" cy="251999"/>
          </a:xfrm>
          <a:prstGeom prst="ellipse">
            <a:avLst/>
          </a:prstGeom>
          <a:solidFill>
            <a:srgbClr val="B4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36480" y="2699999"/>
            <a:ext cx="1884240" cy="216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정책 엔진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36480" y="2915999"/>
            <a:ext cx="188424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800" b="0" i="1">
                <a:solidFill>
                  <a:srgbClr val="A0B8CC"/>
                </a:solidFill>
                <a:latin typeface="맑은 고딕"/>
              </a:rPr>
              <a:t>Policy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956720" y="2303999"/>
            <a:ext cx="1884240" cy="864000"/>
          </a:xfrm>
          <a:prstGeom prst="rect">
            <a:avLst/>
          </a:prstGeom>
          <a:solidFill>
            <a:srgbClr val="0D1F3C"/>
          </a:solidFill>
          <a:ln w="9525">
            <a:solidFill>
              <a:srgbClr val="B4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772841" y="2411999"/>
            <a:ext cx="251999" cy="251999"/>
          </a:xfrm>
          <a:prstGeom prst="ellipse">
            <a:avLst/>
          </a:prstGeom>
          <a:solidFill>
            <a:srgbClr val="B4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956720" y="2699999"/>
            <a:ext cx="1884240" cy="216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응답 검증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6720" y="2915999"/>
            <a:ext cx="188424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800" b="0" i="1">
                <a:solidFill>
                  <a:srgbClr val="A0B8CC"/>
                </a:solidFill>
                <a:latin typeface="맑은 고딕"/>
              </a:rPr>
              <a:t>Validation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876960" y="2303999"/>
            <a:ext cx="1884240" cy="864000"/>
          </a:xfrm>
          <a:prstGeom prst="rect">
            <a:avLst/>
          </a:prstGeom>
          <a:solidFill>
            <a:srgbClr val="0D1F3C"/>
          </a:solidFill>
          <a:ln w="9525">
            <a:solidFill>
              <a:srgbClr val="B4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0693081" y="2411999"/>
            <a:ext cx="251999" cy="251999"/>
          </a:xfrm>
          <a:prstGeom prst="ellipse">
            <a:avLst/>
          </a:prstGeom>
          <a:solidFill>
            <a:srgbClr val="B4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876960" y="2699999"/>
            <a:ext cx="1884240" cy="216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맑은 고딕"/>
              </a:rPr>
              <a:t>감사 로그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76960" y="2915999"/>
            <a:ext cx="188424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800" b="0" i="1">
                <a:solidFill>
                  <a:srgbClr val="A0B8CC"/>
                </a:solidFill>
                <a:latin typeface="맑은 고딕"/>
              </a:rPr>
              <a:t>Audit Trail</a:t>
            </a:r>
          </a:p>
        </p:txBody>
      </p:sp>
      <p:sp>
        <p:nvSpPr>
          <p:cNvPr id="57" name="Down Arrow 56"/>
          <p:cNvSpPr/>
          <p:nvPr/>
        </p:nvSpPr>
        <p:spPr>
          <a:xfrm>
            <a:off x="6834600" y="3203999"/>
            <a:ext cx="288000" cy="198000"/>
          </a:xfrm>
          <a:prstGeom prst="downArrow">
            <a:avLst/>
          </a:prstGeom>
          <a:solidFill>
            <a:srgbClr val="B4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196000" y="3203999"/>
            <a:ext cx="95652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0" i="1">
                <a:solidFill>
                  <a:srgbClr val="B46BFF"/>
                </a:solidFill>
                <a:latin typeface="맑은 고딕"/>
              </a:rPr>
              <a:t>거버넌스가 통과한 데이터만 Agent에게 노출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32000" y="3455998"/>
            <a:ext cx="1620000" cy="648000"/>
          </a:xfrm>
          <a:prstGeom prst="rect">
            <a:avLst/>
          </a:prstGeom>
          <a:solidFill>
            <a:srgbClr val="132A4D"/>
          </a:solidFill>
          <a:ln w="9525">
            <a:solidFill>
              <a:srgbClr val="00E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32000" y="3509998"/>
            <a:ext cx="1620000" cy="162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1" i="0">
                <a:solidFill>
                  <a:srgbClr val="00E096"/>
                </a:solidFill>
                <a:latin typeface="맑은 고딕"/>
              </a:rPr>
              <a:t>LAYER 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2000" y="3653998"/>
            <a:ext cx="1620000" cy="216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</a:rPr>
              <a:t>AI Ready 자산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2000" y="3869997"/>
            <a:ext cx="16200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0" i="0">
                <a:solidFill>
                  <a:srgbClr val="A0B8CC"/>
                </a:solidFill>
                <a:latin typeface="맑은 고딕"/>
              </a:rPr>
              <a:t>정형화 · 임베딩 · 메타데이터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196000" y="3455998"/>
            <a:ext cx="9565200" cy="648000"/>
          </a:xfrm>
          <a:prstGeom prst="rect">
            <a:avLst/>
          </a:prstGeom>
          <a:solidFill>
            <a:srgbClr val="18335A"/>
          </a:solidFill>
          <a:ln w="12700">
            <a:solidFill>
              <a:srgbClr val="00E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196000" y="3527998"/>
            <a:ext cx="9565200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300" b="1" i="0">
                <a:solidFill>
                  <a:srgbClr val="00E096"/>
                </a:solidFill>
                <a:latin typeface="맑은 고딕"/>
              </a:rPr>
              <a:t>비정형 데이터 → 임베딩 · 청크 · 메타데이터 · 분류 · 출처 태그가 부착된 AI Ready Data Asset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196000" y="3797998"/>
            <a:ext cx="9565200" cy="216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100" b="0" i="1">
                <a:solidFill>
                  <a:srgbClr val="FFFFFF"/>
                </a:solidFill>
                <a:latin typeface="맑은 고딕"/>
              </a:rPr>
              <a:t>공통 데이터 기반 — 부서별 사일로 제거, 조직 전체가 동일 컨텍스트 공유</a:t>
            </a:r>
          </a:p>
        </p:txBody>
      </p:sp>
      <p:sp>
        <p:nvSpPr>
          <p:cNvPr id="66" name="Down Arrow 65"/>
          <p:cNvSpPr/>
          <p:nvPr/>
        </p:nvSpPr>
        <p:spPr>
          <a:xfrm>
            <a:off x="6834600" y="4139998"/>
            <a:ext cx="288000" cy="180000"/>
          </a:xfrm>
          <a:prstGeom prst="downArrow">
            <a:avLst/>
          </a:prstGeom>
          <a:solidFill>
            <a:srgbClr val="00E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32000" y="4373998"/>
            <a:ext cx="1620000" cy="827999"/>
          </a:xfrm>
          <a:prstGeom prst="rect">
            <a:avLst/>
          </a:prstGeom>
          <a:solidFill>
            <a:srgbClr val="132A4D"/>
          </a:solidFill>
          <a:ln w="9525">
            <a:solidFill>
              <a:srgbClr val="1A4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32000" y="4445998"/>
            <a:ext cx="16200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1" i="0">
                <a:solidFill>
                  <a:srgbClr val="A0B8CC"/>
                </a:solidFill>
                <a:latin typeface="맑은 고딕"/>
              </a:rPr>
              <a:t>LAYER 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2000" y="4625997"/>
            <a:ext cx="1620000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맑은 고딕"/>
              </a:rPr>
              <a:t>원천 비정형 데이터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32000" y="4877997"/>
            <a:ext cx="16200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0" i="0">
                <a:solidFill>
                  <a:srgbClr val="A0B8CC"/>
                </a:solidFill>
                <a:latin typeface="맑은 고딕"/>
              </a:rPr>
              <a:t>도메인별 raw source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196000" y="4373998"/>
            <a:ext cx="3116400" cy="827999"/>
          </a:xfrm>
          <a:prstGeom prst="rect">
            <a:avLst/>
          </a:prstGeom>
          <a:solidFill>
            <a:srgbClr val="0D1F3C"/>
          </a:solidFill>
          <a:ln w="9525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196000" y="4373998"/>
            <a:ext cx="72000" cy="827999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340000" y="4481998"/>
            <a:ext cx="2900400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300" b="1" i="0">
                <a:solidFill>
                  <a:srgbClr val="00D4FF"/>
                </a:solidFill>
                <a:latin typeface="맑은 고딕"/>
              </a:rPr>
              <a:t>대고객 raw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40000" y="4751998"/>
            <a:ext cx="2900400" cy="432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000" b="0" i="0">
                <a:solidFill>
                  <a:srgbClr val="CCD6E0"/>
                </a:solidFill>
                <a:latin typeface="맑은 고딕"/>
              </a:rPr>
              <a:t>상담 로그 · VoC · 거래 메모 · 손님 동의서 · 영업 보고서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420400" y="4373998"/>
            <a:ext cx="3116400" cy="827999"/>
          </a:xfrm>
          <a:prstGeom prst="rect">
            <a:avLst/>
          </a:prstGeom>
          <a:solidFill>
            <a:srgbClr val="0D1F3C"/>
          </a:solidFill>
          <a:ln w="9525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5420400" y="4373998"/>
            <a:ext cx="72000" cy="827999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564400" y="4481998"/>
            <a:ext cx="2900400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300" b="1" i="0">
                <a:solidFill>
                  <a:srgbClr val="FFD700"/>
                </a:solidFill>
                <a:latin typeface="맑은 고딕"/>
              </a:rPr>
              <a:t>대직원 raw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564400" y="4751998"/>
            <a:ext cx="2900400" cy="432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000" b="0" i="0">
                <a:solidFill>
                  <a:srgbClr val="CCD6E0"/>
                </a:solidFill>
                <a:latin typeface="맑은 고딕"/>
              </a:rPr>
              <a:t>내규 · 매뉴얼 · 업무 지식 · 결재 문서 · 회의록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644800" y="4373998"/>
            <a:ext cx="3116400" cy="827999"/>
          </a:xfrm>
          <a:prstGeom prst="rect">
            <a:avLst/>
          </a:prstGeom>
          <a:solidFill>
            <a:srgbClr val="0D1F3C"/>
          </a:solidFill>
          <a:ln w="9525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644800" y="4373998"/>
            <a:ext cx="72000" cy="827999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788800" y="4481998"/>
            <a:ext cx="2900400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300" b="1" i="0">
                <a:solidFill>
                  <a:srgbClr val="FF6B35"/>
                </a:solidFill>
                <a:latin typeface="맑은 고딕"/>
              </a:rPr>
              <a:t>리스크 raw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788800" y="4751998"/>
            <a:ext cx="2900400" cy="432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000" b="0" i="0">
                <a:solidFill>
                  <a:srgbClr val="CCD6E0"/>
                </a:solidFill>
                <a:latin typeface="맑은 고딕"/>
              </a:rPr>
              <a:t>심사 보고서 · 사고 사례 · 감사 의견 · 법규 변경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40000" y="6498000"/>
            <a:ext cx="11113200" cy="14400"/>
          </a:xfrm>
          <a:prstGeom prst="rect">
            <a:avLst/>
          </a:prstGeom>
          <a:solidFill>
            <a:srgbClr val="1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40000" y="6534000"/>
            <a:ext cx="10393200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800" b="0" i="0">
                <a:solidFill>
                  <a:srgbClr val="A0B8CC"/>
                </a:solidFill>
                <a:latin typeface="맑은 고딕"/>
              </a:rPr>
              <a:t>하나은행 비정형 데이터 자산화 플랫폼 제안  |  2026.05  |  KT B2B 수주전략팀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33200" y="6534000"/>
            <a:ext cx="720000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r"/>
            <a:r>
              <a:rPr sz="800" b="0" i="0">
                <a:solidFill>
                  <a:srgbClr val="A0B8CC"/>
                </a:solidFill>
                <a:latin typeface="맑은 고딕"/>
              </a:rPr>
              <a:t>1 /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93600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0000" cy="936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32000" y="162000"/>
            <a:ext cx="1980000" cy="198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162000"/>
            <a:ext cx="19800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1" i="0">
                <a:solidFill>
                  <a:srgbClr val="0A1628"/>
                </a:solidFill>
                <a:latin typeface="맑은 고딕"/>
              </a:rPr>
              <a:t>CONTROLLABLE AI PIPELINE  ·  데이터 출처부터 활용까지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378000"/>
            <a:ext cx="11329200" cy="36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맑은 고딕"/>
              </a:rPr>
              <a:t>데이터 출처를 명확히 하는 — 통제 가능한 AI를 위한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702000"/>
            <a:ext cx="113292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100" b="0" i="0">
                <a:solidFill>
                  <a:srgbClr val="00D4FF"/>
                </a:solidFill>
                <a:latin typeface="맑은 고딕"/>
              </a:rPr>
              <a:t>수집 단계부터 출처가 박힌다 — 모든 AI 응답이 추적 가능해야 통제할 수 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1080000"/>
            <a:ext cx="11329200" cy="503999"/>
          </a:xfrm>
          <a:prstGeom prst="rect">
            <a:avLst/>
          </a:prstGeom>
          <a:solidFill>
            <a:srgbClr val="132A4D"/>
          </a:solidFill>
          <a:ln w="6350">
            <a:solidFill>
              <a:srgbClr val="1A4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4000" y="1116000"/>
            <a:ext cx="11185200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900" b="0" i="1">
                <a:solidFill>
                  <a:srgbClr val="A0B8CC"/>
                </a:solidFill>
                <a:latin typeface="맑은 고딕"/>
              </a:rPr>
              <a:t>▼  4대 통제축 — 모든 단계를 관통하며 적용 (Cross-cutting Controls)</a:t>
            </a:r>
          </a:p>
        </p:txBody>
      </p:sp>
      <p:sp>
        <p:nvSpPr>
          <p:cNvPr id="10" name="Oval 9"/>
          <p:cNvSpPr/>
          <p:nvPr/>
        </p:nvSpPr>
        <p:spPr>
          <a:xfrm>
            <a:off x="540000" y="1278000"/>
            <a:ext cx="108000" cy="108000"/>
          </a:xfrm>
          <a:prstGeom prst="ellipse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4000" y="1260000"/>
            <a:ext cx="26163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100" b="1" i="0">
                <a:solidFill>
                  <a:srgbClr val="FFD700"/>
                </a:solidFill>
                <a:latin typeface="맑은 고딕"/>
              </a:rPr>
              <a:t>출처 (Provenance)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4000" y="1422000"/>
            <a:ext cx="2616300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800" b="0" i="1">
                <a:solidFill>
                  <a:srgbClr val="CCD6E0"/>
                </a:solidFill>
                <a:latin typeface="맑은 고딕"/>
              </a:rPr>
              <a:t>어디서 왔는지</a:t>
            </a:r>
          </a:p>
        </p:txBody>
      </p:sp>
      <p:sp>
        <p:nvSpPr>
          <p:cNvPr id="13" name="Oval 12"/>
          <p:cNvSpPr/>
          <p:nvPr/>
        </p:nvSpPr>
        <p:spPr>
          <a:xfrm>
            <a:off x="3336300" y="1278000"/>
            <a:ext cx="108000" cy="108000"/>
          </a:xfrm>
          <a:prstGeom prst="ellipse">
            <a:avLst/>
          </a:prstGeom>
          <a:solidFill>
            <a:srgbClr val="B4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80300" y="1260000"/>
            <a:ext cx="26163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100" b="1" i="0">
                <a:solidFill>
                  <a:srgbClr val="B46BFF"/>
                </a:solidFill>
                <a:latin typeface="맑은 고딕"/>
              </a:rPr>
              <a:t>감사 (Audit)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0300" y="1422000"/>
            <a:ext cx="2616300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800" b="0" i="1">
                <a:solidFill>
                  <a:srgbClr val="CCD6E0"/>
                </a:solidFill>
                <a:latin typeface="맑은 고딕"/>
              </a:rPr>
              <a:t>무엇이 일어났는지</a:t>
            </a:r>
          </a:p>
        </p:txBody>
      </p:sp>
      <p:sp>
        <p:nvSpPr>
          <p:cNvPr id="16" name="Oval 15"/>
          <p:cNvSpPr/>
          <p:nvPr/>
        </p:nvSpPr>
        <p:spPr>
          <a:xfrm>
            <a:off x="6132600" y="1278000"/>
            <a:ext cx="108000" cy="1080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76600" y="1260000"/>
            <a:ext cx="26163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맑은 고딕"/>
              </a:rPr>
              <a:t>접근 (Access)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6600" y="1422000"/>
            <a:ext cx="2616300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800" b="0" i="1">
                <a:solidFill>
                  <a:srgbClr val="CCD6E0"/>
                </a:solidFill>
                <a:latin typeface="맑은 고딕"/>
              </a:rPr>
              <a:t>누가 볼 수 있는지</a:t>
            </a:r>
          </a:p>
        </p:txBody>
      </p:sp>
      <p:sp>
        <p:nvSpPr>
          <p:cNvPr id="19" name="Oval 18"/>
          <p:cNvSpPr/>
          <p:nvPr/>
        </p:nvSpPr>
        <p:spPr>
          <a:xfrm>
            <a:off x="8928900" y="1278000"/>
            <a:ext cx="108000" cy="108000"/>
          </a:xfrm>
          <a:prstGeom prst="ellipse">
            <a:avLst/>
          </a:prstGeom>
          <a:solidFill>
            <a:srgbClr val="00E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72900" y="1260000"/>
            <a:ext cx="26163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100" b="1" i="0">
                <a:solidFill>
                  <a:srgbClr val="00E096"/>
                </a:solidFill>
                <a:latin typeface="맑은 고딕"/>
              </a:rPr>
              <a:t>품질 (Quality)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2900" y="1422000"/>
            <a:ext cx="2616300" cy="144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800" b="0" i="1">
                <a:solidFill>
                  <a:srgbClr val="CCD6E0"/>
                </a:solidFill>
                <a:latin typeface="맑은 고딕"/>
              </a:rPr>
              <a:t>신뢰할 수 있는지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000" y="1691999"/>
            <a:ext cx="2764800" cy="2268000"/>
          </a:xfrm>
          <a:prstGeom prst="rect">
            <a:avLst/>
          </a:prstGeom>
          <a:solidFill>
            <a:srgbClr val="0D1F3C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2000" y="1691999"/>
            <a:ext cx="2764800" cy="503999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0000" y="1727999"/>
            <a:ext cx="2880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000" b="1" i="0">
                <a:solidFill>
                  <a:srgbClr val="0A1628"/>
                </a:solidFill>
                <a:latin typeface="맑은 고딕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000" y="1745999"/>
            <a:ext cx="2764800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800" b="1" i="0">
                <a:solidFill>
                  <a:srgbClr val="0A1628"/>
                </a:solidFill>
                <a:latin typeface="맑은 고딕"/>
              </a:rPr>
              <a:t>수집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000" y="1997999"/>
            <a:ext cx="2764800" cy="162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0" i="1">
                <a:solidFill>
                  <a:srgbClr val="0A1628"/>
                </a:solidFill>
                <a:latin typeface="맑은 고딕"/>
              </a:rPr>
              <a:t>Ingest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0000" y="2249999"/>
            <a:ext cx="2548800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맑은 고딕"/>
              </a:rPr>
              <a:t>원천 → 출처 태그 부착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0000" y="2501999"/>
            <a:ext cx="2548800" cy="14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0000" y="2555999"/>
            <a:ext cx="25488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맑은 고딕"/>
              </a:rPr>
              <a:t>• 출처(source) 기록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0000" y="2753999"/>
            <a:ext cx="25488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맑은 고딕"/>
              </a:rPr>
              <a:t>• 소유 부서·작성자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000" y="2951999"/>
            <a:ext cx="25488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맑은 고딕"/>
              </a:rPr>
              <a:t>• 분류·민감도 등급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0000" y="3149999"/>
            <a:ext cx="25488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맑은 고딕"/>
              </a:rPr>
              <a:t>• 작성 시점 메타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0000" y="3671999"/>
            <a:ext cx="2548800" cy="180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0000" y="3671999"/>
            <a:ext cx="25488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1" i="1">
                <a:solidFill>
                  <a:srgbClr val="0A1628"/>
                </a:solidFill>
                <a:latin typeface="맑은 고딕"/>
              </a:rPr>
              <a:t>→ raw + meta</a:t>
            </a:r>
          </a:p>
        </p:txBody>
      </p:sp>
      <p:sp>
        <p:nvSpPr>
          <p:cNvPr id="35" name="Chevron 34"/>
          <p:cNvSpPr/>
          <p:nvPr/>
        </p:nvSpPr>
        <p:spPr>
          <a:xfrm>
            <a:off x="3204000" y="2681999"/>
            <a:ext cx="72000" cy="288000"/>
          </a:xfrm>
          <a:prstGeom prst="chevron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86800" y="1691999"/>
            <a:ext cx="2764800" cy="2268000"/>
          </a:xfrm>
          <a:prstGeom prst="rect">
            <a:avLst/>
          </a:prstGeom>
          <a:solidFill>
            <a:srgbClr val="0D1F3C"/>
          </a:solidFill>
          <a:ln w="12700">
            <a:solidFill>
              <a:srgbClr val="B46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86800" y="1691999"/>
            <a:ext cx="2764800" cy="503999"/>
          </a:xfrm>
          <a:prstGeom prst="rect">
            <a:avLst/>
          </a:prstGeom>
          <a:solidFill>
            <a:srgbClr val="B4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94800" y="1727999"/>
            <a:ext cx="2880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000" b="1" i="0">
                <a:solidFill>
                  <a:srgbClr val="0A1628"/>
                </a:solidFill>
                <a:latin typeface="맑은 고딕"/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86800" y="1745999"/>
            <a:ext cx="2764800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800" b="1" i="0">
                <a:solidFill>
                  <a:srgbClr val="0A1628"/>
                </a:solidFill>
                <a:latin typeface="맑은 고딕"/>
              </a:rPr>
              <a:t>저장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86800" y="1997999"/>
            <a:ext cx="2764800" cy="162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0" i="1">
                <a:solidFill>
                  <a:srgbClr val="0A1628"/>
                </a:solidFill>
                <a:latin typeface="맑은 고딕"/>
              </a:rPr>
              <a:t>Govern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94800" y="2249999"/>
            <a:ext cx="2548800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100" b="1" i="0">
                <a:solidFill>
                  <a:srgbClr val="B46BFF"/>
                </a:solidFill>
                <a:latin typeface="맑은 고딕"/>
              </a:rPr>
              <a:t>출처 보존 + 접근 통제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394800" y="2501999"/>
            <a:ext cx="2548800" cy="14400"/>
          </a:xfrm>
          <a:prstGeom prst="rect">
            <a:avLst/>
          </a:prstGeom>
          <a:solidFill>
            <a:srgbClr val="B4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94800" y="2555999"/>
            <a:ext cx="25488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맑은 고딕"/>
              </a:rPr>
              <a:t>• 접근 권한 매트릭스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94800" y="2753999"/>
            <a:ext cx="25488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맑은 고딕"/>
              </a:rPr>
              <a:t>• 버전 관리·이력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94800" y="2951999"/>
            <a:ext cx="25488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맑은 고딕"/>
              </a:rPr>
              <a:t>• 감사 로그 자동 적재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94800" y="3149999"/>
            <a:ext cx="25488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맑은 고딕"/>
              </a:rPr>
              <a:t>• 보존 기간 정책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394800" y="3671999"/>
            <a:ext cx="2548800" cy="180000"/>
          </a:xfrm>
          <a:prstGeom prst="rect">
            <a:avLst/>
          </a:prstGeom>
          <a:solidFill>
            <a:srgbClr val="B4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394800" y="3671999"/>
            <a:ext cx="25488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1" i="1">
                <a:solidFill>
                  <a:srgbClr val="0A1628"/>
                </a:solidFill>
                <a:latin typeface="맑은 고딕"/>
              </a:rPr>
              <a:t>→ stored + audit</a:t>
            </a:r>
          </a:p>
        </p:txBody>
      </p:sp>
      <p:sp>
        <p:nvSpPr>
          <p:cNvPr id="49" name="Chevron 48"/>
          <p:cNvSpPr/>
          <p:nvPr/>
        </p:nvSpPr>
        <p:spPr>
          <a:xfrm>
            <a:off x="6058800" y="2681999"/>
            <a:ext cx="72000" cy="288000"/>
          </a:xfrm>
          <a:prstGeom prst="chevron">
            <a:avLst/>
          </a:prstGeom>
          <a:solidFill>
            <a:srgbClr val="B46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141600" y="1691999"/>
            <a:ext cx="2764800" cy="2268000"/>
          </a:xfrm>
          <a:prstGeom prst="rect">
            <a:avLst/>
          </a:prstGeom>
          <a:solidFill>
            <a:srgbClr val="0D1F3C"/>
          </a:solidFill>
          <a:ln w="12700">
            <a:solidFill>
              <a:srgbClr val="00E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41600" y="1691999"/>
            <a:ext cx="2764800" cy="503999"/>
          </a:xfrm>
          <a:prstGeom prst="rect">
            <a:avLst/>
          </a:prstGeom>
          <a:solidFill>
            <a:srgbClr val="00E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49600" y="1727999"/>
            <a:ext cx="2880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000" b="1" i="0">
                <a:solidFill>
                  <a:srgbClr val="0A1628"/>
                </a:solidFill>
                <a:latin typeface="맑은 고딕"/>
              </a:rP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41600" y="1745999"/>
            <a:ext cx="2764800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800" b="1" i="0">
                <a:solidFill>
                  <a:srgbClr val="0A1628"/>
                </a:solidFill>
                <a:latin typeface="맑은 고딕"/>
              </a:rPr>
              <a:t>가공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41600" y="1997999"/>
            <a:ext cx="2764800" cy="162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0" i="1">
                <a:solidFill>
                  <a:srgbClr val="0A1628"/>
                </a:solidFill>
                <a:latin typeface="맑은 고딕"/>
              </a:rPr>
              <a:t>Process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49600" y="2249999"/>
            <a:ext cx="2548800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100" b="1" i="0">
                <a:solidFill>
                  <a:srgbClr val="00E096"/>
                </a:solidFill>
                <a:latin typeface="맑은 고딕"/>
              </a:rPr>
              <a:t>AI Ready化 + 정합성 검증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49600" y="2501999"/>
            <a:ext cx="2548800" cy="14400"/>
          </a:xfrm>
          <a:prstGeom prst="rect">
            <a:avLst/>
          </a:prstGeom>
          <a:solidFill>
            <a:srgbClr val="00E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249600" y="2555999"/>
            <a:ext cx="25488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맑은 고딕"/>
              </a:rPr>
              <a:t>• 비식별화·마스킹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49600" y="2753999"/>
            <a:ext cx="25488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맑은 고딕"/>
              </a:rPr>
              <a:t>• 청킹 + 임베딩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49600" y="2951999"/>
            <a:ext cx="25488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맑은 고딕"/>
              </a:rPr>
              <a:t>• 출처 메타 동행 전이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49600" y="3149999"/>
            <a:ext cx="25488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맑은 고딕"/>
              </a:rPr>
              <a:t>• 정합성 2-Pass 검증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49600" y="3671999"/>
            <a:ext cx="2548800" cy="180000"/>
          </a:xfrm>
          <a:prstGeom prst="rect">
            <a:avLst/>
          </a:prstGeom>
          <a:solidFill>
            <a:srgbClr val="00E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249600" y="3671999"/>
            <a:ext cx="25488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1" i="1">
                <a:solidFill>
                  <a:srgbClr val="0A1628"/>
                </a:solidFill>
                <a:latin typeface="맑은 고딕"/>
              </a:rPr>
              <a:t>→ ai-ready</a:t>
            </a:r>
          </a:p>
        </p:txBody>
      </p:sp>
      <p:sp>
        <p:nvSpPr>
          <p:cNvPr id="63" name="Chevron 62"/>
          <p:cNvSpPr/>
          <p:nvPr/>
        </p:nvSpPr>
        <p:spPr>
          <a:xfrm>
            <a:off x="8913600" y="2681999"/>
            <a:ext cx="72000" cy="288000"/>
          </a:xfrm>
          <a:prstGeom prst="chevron">
            <a:avLst/>
          </a:prstGeom>
          <a:solidFill>
            <a:srgbClr val="00E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996400" y="1691999"/>
            <a:ext cx="2764800" cy="2268000"/>
          </a:xfrm>
          <a:prstGeom prst="rect">
            <a:avLst/>
          </a:prstGeom>
          <a:solidFill>
            <a:srgbClr val="0D1F3C"/>
          </a:solidFill>
          <a:ln w="127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996400" y="1691999"/>
            <a:ext cx="2764800" cy="503999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104400" y="1727999"/>
            <a:ext cx="2880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000" b="1" i="0">
                <a:solidFill>
                  <a:srgbClr val="0A1628"/>
                </a:solidFill>
                <a:latin typeface="맑은 고딕"/>
              </a:rPr>
              <a:t>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996400" y="1745999"/>
            <a:ext cx="2764800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1800" b="1" i="0">
                <a:solidFill>
                  <a:srgbClr val="0A1628"/>
                </a:solidFill>
                <a:latin typeface="맑은 고딕"/>
              </a:rPr>
              <a:t>활용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996400" y="1997999"/>
            <a:ext cx="2764800" cy="162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0" i="1">
                <a:solidFill>
                  <a:srgbClr val="0A1628"/>
                </a:solidFill>
                <a:latin typeface="맑은 고딕"/>
              </a:rPr>
              <a:t>Serve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104400" y="2249999"/>
            <a:ext cx="2548800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100" b="1" i="0">
                <a:solidFill>
                  <a:srgbClr val="FF6B35"/>
                </a:solidFill>
                <a:latin typeface="맑은 고딕"/>
              </a:rPr>
              <a:t>출처 인용 + 응답 검증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104400" y="2501999"/>
            <a:ext cx="2548800" cy="14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04400" y="2555999"/>
            <a:ext cx="25488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맑은 고딕"/>
              </a:rPr>
              <a:t>• 출처 인용 강제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04400" y="2753999"/>
            <a:ext cx="25488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맑은 고딕"/>
              </a:rPr>
              <a:t>• 정책 엔진 사전 차단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104400" y="2951999"/>
            <a:ext cx="25488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맑은 고딕"/>
              </a:rPr>
              <a:t>• 응답 추적 가능 (XAI)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04400" y="3149999"/>
            <a:ext cx="2548800" cy="198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맑은 고딕"/>
              </a:rPr>
              <a:t>• 피드백 → 재학습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104400" y="3671999"/>
            <a:ext cx="2548800" cy="1800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104400" y="3671999"/>
            <a:ext cx="2548800" cy="180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ctr"/>
            <a:r>
              <a:rPr sz="900" b="1" i="1">
                <a:solidFill>
                  <a:srgbClr val="0A1628"/>
                </a:solidFill>
                <a:latin typeface="맑은 고딕"/>
              </a:rPr>
              <a:t>→ served + cited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32000" y="4085998"/>
            <a:ext cx="11329200" cy="5400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76000" y="4139998"/>
            <a:ext cx="11041200" cy="216000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200" b="0" i="0">
                <a:solidFill>
                  <a:srgbClr val="0A1628"/>
                </a:solidFill>
                <a:latin typeface="맑은 고딕"/>
              </a:rPr>
              <a:t>출처가 박힌 데이터만 학습되고, 인용 가능한 응답만 사용자에게 전달된다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76000" y="4337997"/>
            <a:ext cx="11041200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1800" b="1" i="0">
                <a:solidFill>
                  <a:srgbClr val="0A1628"/>
                </a:solidFill>
                <a:latin typeface="맑은 고딕"/>
              </a:rPr>
              <a:t>→ 이것이 '통제 가능한 AI' 의 유일한 구현 방법입니다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0000" y="6498000"/>
            <a:ext cx="11113200" cy="14400"/>
          </a:xfrm>
          <a:prstGeom prst="rect">
            <a:avLst/>
          </a:prstGeom>
          <a:solidFill>
            <a:srgbClr val="1A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0000" y="6534000"/>
            <a:ext cx="10393200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l"/>
            <a:r>
              <a:rPr sz="800" b="0" i="0">
                <a:solidFill>
                  <a:srgbClr val="A0B8CC"/>
                </a:solidFill>
                <a:latin typeface="맑은 고딕"/>
              </a:rPr>
              <a:t>하나은행 비정형 데이터 자산화 플랫폼 제안  |  2026.05  |  KT B2B 수주전략팀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933200" y="6534000"/>
            <a:ext cx="720000" cy="251999"/>
          </a:xfrm>
          <a:prstGeom prst="rect">
            <a:avLst/>
          </a:prstGeom>
          <a:noFill/>
        </p:spPr>
        <p:txBody>
          <a:bodyPr wrap="square" lIns="28800" rIns="28800" tIns="14400" bIns="14400">
            <a:spAutoFit/>
          </a:bodyPr>
          <a:lstStyle/>
          <a:p>
            <a:pPr algn="r"/>
            <a:r>
              <a:rPr sz="800" b="0" i="0">
                <a:solidFill>
                  <a:srgbClr val="A0B8CC"/>
                </a:solidFill>
                <a:latin typeface="맑은 고딕"/>
              </a:rPr>
              <a:t>2 /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