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80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" cy="1080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2000" y="198000"/>
            <a:ext cx="1620000" cy="19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198000"/>
            <a:ext cx="1620000" cy="198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 i="0">
                <a:solidFill>
                  <a:srgbClr val="0A1628"/>
                </a:solidFill>
                <a:latin typeface="맑은 고딕"/>
              </a:rPr>
              <a:t>MASTER MESSAGE  ·  본질 진단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13999"/>
            <a:ext cx="11329200" cy="468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맑은 고딕"/>
              </a:rPr>
              <a:t>AI를 통제하는 금융, 하나은행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846000"/>
            <a:ext cx="11329200" cy="216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00D4FF"/>
                </a:solidFill>
                <a:latin typeface="맑은 고딕"/>
              </a:rPr>
              <a:t>Ready to AI Foundation — 모든 판단이 AI 실행 자산 위에서 움직이는 첫 번째 은행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224000"/>
            <a:ext cx="11329200" cy="324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</a:rPr>
              <a:t>이 사업은 RAG가 아닙니다. 은행의 OS 교체입니다.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1655999"/>
            <a:ext cx="11329200" cy="972000"/>
          </a:xfrm>
          <a:prstGeom prst="rect">
            <a:avLst/>
          </a:prstGeom>
          <a:solidFill>
            <a:srgbClr val="132A4D"/>
          </a:solidFill>
          <a:ln w="9525">
            <a:solidFill>
              <a:srgbClr val="1A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000" y="1655999"/>
            <a:ext cx="54000" cy="972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745999"/>
            <a:ext cx="1260000" cy="180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00" y="1745999"/>
            <a:ext cx="1260000" cy="18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 i="0">
                <a:solidFill>
                  <a:srgbClr val="0A1628"/>
                </a:solidFill>
                <a:latin typeface="맑은 고딕"/>
              </a:rPr>
              <a:t>RFP 원문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00" y="1961999"/>
            <a:ext cx="11041200" cy="648000"/>
          </a:xfrm>
          <a:prstGeom prst="rect">
            <a:avLst/>
          </a:prstGeom>
          <a:noFill/>
        </p:spPr>
        <p:txBody>
          <a:bodyPr wrap="square" lIns="54000" rIns="54000" tIns="36000" bIns="36000">
            <a:spAutoFit/>
          </a:bodyPr>
          <a:lstStyle/>
          <a:p>
            <a:pPr algn="l"/>
            <a:r>
              <a:rPr sz="1400" b="0">
                <a:solidFill>
                  <a:srgbClr val="CCD6E0"/>
                </a:solidFill>
                <a:latin typeface="맑은 고딕"/>
              </a:rPr>
              <a:t>"주요 </a:t>
            </a:r>
            <a:r>
              <a:rPr sz="1400" b="1">
                <a:solidFill>
                  <a:srgbClr val="FFD700"/>
                </a:solidFill>
                <a:latin typeface="맑은 고딕"/>
              </a:rPr>
              <a:t>비정형 데이터</a:t>
            </a:r>
            <a:r>
              <a:rPr sz="1400" b="0">
                <a:solidFill>
                  <a:srgbClr val="CCD6E0"/>
                </a:solidFill>
                <a:latin typeface="맑은 고딕"/>
              </a:rPr>
              <a:t>를 대상으로 </a:t>
            </a:r>
            <a:r>
              <a:rPr sz="1400" b="1">
                <a:solidFill>
                  <a:srgbClr val="00D4FF"/>
                </a:solidFill>
                <a:latin typeface="맑은 고딕"/>
              </a:rPr>
              <a:t>수집 · 저장 · 가공</a:t>
            </a:r>
            <a:r>
              <a:rPr sz="1400" b="0">
                <a:solidFill>
                  <a:srgbClr val="CCD6E0"/>
                </a:solidFill>
                <a:latin typeface="맑은 고딕"/>
              </a:rPr>
              <a:t>하여 자산화함으로써  </a:t>
            </a:r>
            <a:r>
              <a:rPr sz="1400" b="1">
                <a:solidFill>
                  <a:srgbClr val="FF6B35"/>
                </a:solidFill>
                <a:latin typeface="맑은 고딕"/>
              </a:rPr>
              <a:t>대직원 · 대손님 · 리스크</a:t>
            </a:r>
            <a:r>
              <a:rPr sz="1400" b="0">
                <a:solidFill>
                  <a:srgbClr val="CCD6E0"/>
                </a:solidFill>
                <a:latin typeface="맑은 고딕"/>
              </a:rPr>
              <a:t> 등 전 영역에서 생성형 AI Agent를 활용할 수 있는  </a:t>
            </a:r>
            <a:r>
              <a:rPr sz="1400" b="1">
                <a:solidFill>
                  <a:srgbClr val="00E096"/>
                </a:solidFill>
                <a:latin typeface="맑은 고딕"/>
              </a:rPr>
              <a:t>공통 데이터 기반</a:t>
            </a:r>
            <a:r>
              <a:rPr sz="1400" b="0">
                <a:solidFill>
                  <a:srgbClr val="CCD6E0"/>
                </a:solidFill>
                <a:latin typeface="맑은 고딕"/>
              </a:rPr>
              <a:t> 플랫폼을 구축한다"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2772000"/>
            <a:ext cx="5592600" cy="251999"/>
          </a:xfrm>
          <a:prstGeom prst="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000" y="2772000"/>
            <a:ext cx="5592600" cy="251999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표면 — RFP 문구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8600" y="2772000"/>
            <a:ext cx="5592600" cy="251999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8600" y="2772000"/>
            <a:ext cx="5592600" cy="251999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100" b="1" i="0">
                <a:solidFill>
                  <a:srgbClr val="0A1628"/>
                </a:solidFill>
                <a:latin typeface="맑은 고딕"/>
              </a:rPr>
              <a:t>본질 — 하나은행이 진짜 원하는 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3060000"/>
            <a:ext cx="5592600" cy="450000"/>
          </a:xfrm>
          <a:prstGeom prst="rect">
            <a:avLst/>
          </a:prstGeom>
          <a:solidFill>
            <a:srgbClr val="0D1F3C"/>
          </a:solidFill>
          <a:ln w="6350">
            <a:solidFill>
              <a:srgbClr val="1A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0000" y="3060000"/>
            <a:ext cx="5376600" cy="45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A0B8CC"/>
                </a:solidFill>
                <a:latin typeface="맑은 고딕"/>
              </a:rPr>
              <a:t>비정형 데이터 플랫폼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8600" y="3060000"/>
            <a:ext cx="5592600" cy="450000"/>
          </a:xfrm>
          <a:prstGeom prst="rect">
            <a:avLst/>
          </a:prstGeom>
          <a:solidFill>
            <a:srgbClr val="132A4D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6600" y="3060000"/>
            <a:ext cx="5376600" cy="45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은행의 모든 판단 흐름을 AI 중심으로 재구성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546000"/>
            <a:ext cx="5592600" cy="450000"/>
          </a:xfrm>
          <a:prstGeom prst="rect">
            <a:avLst/>
          </a:prstGeom>
          <a:solidFill>
            <a:srgbClr val="0D1F3C"/>
          </a:solidFill>
          <a:ln w="6350">
            <a:solidFill>
              <a:srgbClr val="1A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0000" y="3546000"/>
            <a:ext cx="5376600" cy="45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A0B8CC"/>
                </a:solidFill>
                <a:latin typeface="맑은 고딕"/>
              </a:rPr>
              <a:t>생성형 AI Agent 활용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68600" y="3546000"/>
            <a:ext cx="5592600" cy="450000"/>
          </a:xfrm>
          <a:prstGeom prst="rect">
            <a:avLst/>
          </a:prstGeom>
          <a:solidFill>
            <a:srgbClr val="132A4D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6600" y="3546000"/>
            <a:ext cx="5376600" cy="45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'사람이 찾는 조직' → 'AI가 즉시 실행하는 조직'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000" y="4032000"/>
            <a:ext cx="5592600" cy="450000"/>
          </a:xfrm>
          <a:prstGeom prst="rect">
            <a:avLst/>
          </a:prstGeom>
          <a:solidFill>
            <a:srgbClr val="0D1F3C"/>
          </a:solidFill>
          <a:ln w="6350">
            <a:solidFill>
              <a:srgbClr val="1A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0000" y="4032000"/>
            <a:ext cx="5376600" cy="45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A0B8CC"/>
                </a:solidFill>
                <a:latin typeface="맑은 고딕"/>
              </a:rPr>
              <a:t>데이터 자산화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68600" y="4032000"/>
            <a:ext cx="5592600" cy="450000"/>
          </a:xfrm>
          <a:prstGeom prst="rect">
            <a:avLst/>
          </a:prstGeom>
          <a:solidFill>
            <a:srgbClr val="132A4D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6600" y="4032000"/>
            <a:ext cx="5376600" cy="45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AI Agent 생태계의 기반 인프라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2000" y="4518000"/>
            <a:ext cx="5592600" cy="450000"/>
          </a:xfrm>
          <a:prstGeom prst="rect">
            <a:avLst/>
          </a:prstGeom>
          <a:solidFill>
            <a:srgbClr val="0D1F3C"/>
          </a:solidFill>
          <a:ln w="6350">
            <a:solidFill>
              <a:srgbClr val="1A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0000" y="4518000"/>
            <a:ext cx="5376600" cy="45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A0B8CC"/>
                </a:solidFill>
                <a:latin typeface="맑은 고딕"/>
              </a:rPr>
              <a:t>'공통 데이터 기반' (가장 핵심)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68600" y="4518000"/>
            <a:ext cx="5592600" cy="450000"/>
          </a:xfrm>
          <a:prstGeom prst="rect">
            <a:avLst/>
          </a:prstGeom>
          <a:solidFill>
            <a:srgbClr val="132A4D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6600" y="4518000"/>
            <a:ext cx="5376600" cy="45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FFD700"/>
                </a:solidFill>
                <a:latin typeface="맑은 고딕"/>
              </a:rPr>
              <a:t>부서별 사일로 제거 → 조직 전체가 동일 컨텍스트 공유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5634000"/>
            <a:ext cx="11329200" cy="666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0000" y="5706000"/>
            <a:ext cx="11113200" cy="251999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0A1628"/>
                </a:solidFill>
                <a:latin typeface="맑은 고딕"/>
              </a:rPr>
              <a:t>이번 사업은 Elasticsearch 구축도, RAG 구축도, 데이터 레이크 구축도 아닙니다.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0000" y="5940000"/>
            <a:ext cx="11113200" cy="324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</a:rPr>
              <a:t>은행의 판단 체계를 AI 기반으로 재설계하는 — 첫 번째 인프라 사업입니다.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0000" y="6426000"/>
            <a:ext cx="11113200" cy="14400"/>
          </a:xfrm>
          <a:prstGeom prst="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0000" y="6462000"/>
            <a:ext cx="10393200" cy="324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 i="0">
                <a:solidFill>
                  <a:srgbClr val="A0B8CC"/>
                </a:solidFill>
                <a:latin typeface="맑은 고딕"/>
              </a:rPr>
              <a:t>하나은행 비정형 데이터 자산화 플랫폼 제안  |  2026.05  |  KT B2B 수주전략팀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33200" y="6462000"/>
            <a:ext cx="720000" cy="324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 i="0">
                <a:solidFill>
                  <a:srgbClr val="A0B8CC"/>
                </a:solidFill>
                <a:latin typeface="맑은 고딕"/>
              </a:rPr>
              <a:t>1 /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" cy="936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2000" y="162000"/>
            <a:ext cx="1620000" cy="19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162000"/>
            <a:ext cx="1620000" cy="198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 i="0">
                <a:solidFill>
                  <a:srgbClr val="0A1628"/>
                </a:solidFill>
                <a:latin typeface="맑은 고딕"/>
              </a:rPr>
              <a:t>OUR ANSWER  ·  3축 × 3행위 매트릭스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378000"/>
            <a:ext cx="11329200" cy="396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고객 · 직원 · 리스크를 하나의 AI Ready 기반 위에 연결합니다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702000"/>
            <a:ext cx="11329200" cy="198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00D4FF"/>
                </a:solidFill>
                <a:latin typeface="맑은 고딕"/>
              </a:rPr>
              <a:t>Enterprise AI Operating Foundation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152000"/>
            <a:ext cx="2592000" cy="540000"/>
          </a:xfrm>
          <a:prstGeom prst="rect">
            <a:avLst/>
          </a:prstGeom>
          <a:solidFill>
            <a:srgbClr val="0D1F3C"/>
          </a:solidFill>
          <a:ln w="6350">
            <a:solidFill>
              <a:srgbClr val="1A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000" y="1188000"/>
            <a:ext cx="2592000" cy="216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0" i="0">
                <a:solidFill>
                  <a:srgbClr val="A0B8CC"/>
                </a:solidFill>
                <a:latin typeface="맑은 고딕"/>
              </a:rPr>
              <a:t>3대 의사결정 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1403999"/>
            <a:ext cx="2592000" cy="251999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 i="0">
                <a:solidFill>
                  <a:srgbClr val="00D4FF"/>
                </a:solidFill>
                <a:latin typeface="맑은 고딕"/>
              </a:rPr>
              <a:t>▼  3대 데이터 공정 (수집 → 저장 → 가공)  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24000" y="1152000"/>
            <a:ext cx="2912400" cy="540000"/>
          </a:xfrm>
          <a:prstGeom prst="rect">
            <a:avLst/>
          </a:prstGeom>
          <a:solidFill>
            <a:srgbClr val="132A4D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24000" y="1188000"/>
            <a:ext cx="2912400" cy="216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 i="0">
                <a:solidFill>
                  <a:srgbClr val="00D4FF"/>
                </a:solidFill>
                <a:latin typeface="맑은 고딕"/>
              </a:rPr>
              <a:t>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4000" y="1403999"/>
            <a:ext cx="2912400" cy="144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0" i="0">
                <a:solidFill>
                  <a:srgbClr val="CCD6E0"/>
                </a:solidFill>
                <a:latin typeface="맑은 고딕"/>
              </a:rPr>
              <a:t>흩어진 비정형 데이터 통합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4000" y="1530000"/>
            <a:ext cx="2912400" cy="144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 i="1">
                <a:solidFill>
                  <a:srgbClr val="00D4FF"/>
                </a:solidFill>
                <a:latin typeface="맑은 고딕"/>
              </a:rPr>
              <a:t>은행의 암묵지를 디지털화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36400" y="1152000"/>
            <a:ext cx="2912400" cy="540000"/>
          </a:xfrm>
          <a:prstGeom prst="rect">
            <a:avLst/>
          </a:prstGeom>
          <a:solidFill>
            <a:srgbClr val="132A4D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36400" y="1188000"/>
            <a:ext cx="2912400" cy="216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 i="0">
                <a:solidFill>
                  <a:srgbClr val="00D4FF"/>
                </a:solidFill>
                <a:latin typeface="맑은 고딕"/>
              </a:rPr>
              <a:t>저장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6400" y="1403999"/>
            <a:ext cx="2912400" cy="144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0" i="0">
                <a:solidFill>
                  <a:srgbClr val="CCD6E0"/>
                </a:solidFill>
                <a:latin typeface="맑은 고딕"/>
              </a:rPr>
              <a:t>AI 활용 가능한 구조화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6400" y="1530000"/>
            <a:ext cx="2912400" cy="144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 i="1">
                <a:solidFill>
                  <a:srgbClr val="00D4FF"/>
                </a:solidFill>
                <a:latin typeface="맑은 고딕"/>
              </a:rPr>
              <a:t>'AI Ready 자산 관리 체계'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48800" y="1152000"/>
            <a:ext cx="2912400" cy="540000"/>
          </a:xfrm>
          <a:prstGeom prst="rect">
            <a:avLst/>
          </a:prstGeom>
          <a:solidFill>
            <a:srgbClr val="132A4D"/>
          </a:solidFill>
          <a:ln w="9525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48800" y="1188000"/>
            <a:ext cx="2912400" cy="216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 i="0">
                <a:solidFill>
                  <a:srgbClr val="FF6B35"/>
                </a:solidFill>
                <a:latin typeface="맑은 고딕"/>
              </a:rPr>
              <a:t>가공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48800" y="1403999"/>
            <a:ext cx="2912400" cy="144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0" i="0">
                <a:solidFill>
                  <a:srgbClr val="CCD6E0"/>
                </a:solidFill>
                <a:latin typeface="맑은 고딕"/>
              </a:rPr>
              <a:t>AI가 판단 가능한 형태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8800" y="1530000"/>
            <a:ext cx="2912400" cy="144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 i="1">
                <a:solidFill>
                  <a:srgbClr val="FF6B35"/>
                </a:solidFill>
                <a:latin typeface="맑은 고딕"/>
              </a:rPr>
              <a:t>비정형 데이터의 AI Ready 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1692000"/>
            <a:ext cx="2592000" cy="1080000"/>
          </a:xfrm>
          <a:prstGeom prst="rect">
            <a:avLst/>
          </a:prstGeom>
          <a:solidFill>
            <a:srgbClr val="0D1F3C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2000" y="1692000"/>
            <a:ext cx="72000" cy="1080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00" y="1782000"/>
            <a:ext cx="2376000" cy="306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 i="0">
                <a:solidFill>
                  <a:srgbClr val="00D4FF"/>
                </a:solidFill>
                <a:latin typeface="맑은 고딕"/>
              </a:rPr>
              <a:t>고객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00" y="2105999"/>
            <a:ext cx="2376000" cy="198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A0B8CC"/>
                </a:solidFill>
                <a:latin typeface="맑은 고딕"/>
              </a:rPr>
              <a:t>수익 창출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00" y="2322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▸  초개인화 상담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24000" y="1692000"/>
            <a:ext cx="2912400" cy="1080000"/>
          </a:xfrm>
          <a:prstGeom prst="rect">
            <a:avLst/>
          </a:prstGeom>
          <a:solidFill>
            <a:srgbClr val="0D1F3C"/>
          </a:solidFill>
          <a:ln w="6350">
            <a:solidFill>
              <a:srgbClr val="1A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32000" y="1800000"/>
            <a:ext cx="90000" cy="90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68000" y="1980000"/>
            <a:ext cx="2732400" cy="72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상담 로그 · VoC 통합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36400" y="1692000"/>
            <a:ext cx="2912400" cy="1080000"/>
          </a:xfrm>
          <a:prstGeom prst="rect">
            <a:avLst/>
          </a:prstGeom>
          <a:solidFill>
            <a:srgbClr val="0D1F3C"/>
          </a:solidFill>
          <a:ln w="6350">
            <a:solidFill>
              <a:srgbClr val="1A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44400" y="1800000"/>
            <a:ext cx="90000" cy="90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400" y="1980000"/>
            <a:ext cx="2732400" cy="72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손님 컨텍스트 자산화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48800" y="1692000"/>
            <a:ext cx="2912400" cy="1080000"/>
          </a:xfrm>
          <a:prstGeom prst="rect">
            <a:avLst/>
          </a:prstGeom>
          <a:solidFill>
            <a:srgbClr val="132A4D"/>
          </a:solidFill>
          <a:ln w="63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56800" y="1800000"/>
            <a:ext cx="90000" cy="90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92800" y="1980000"/>
            <a:ext cx="2732400" cy="72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맑은 고딕"/>
              </a:rPr>
              <a:t>초개인화 Prompt-Ready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000" y="2772000"/>
            <a:ext cx="2592000" cy="1080000"/>
          </a:xfrm>
          <a:prstGeom prst="rect">
            <a:avLst/>
          </a:prstGeom>
          <a:solidFill>
            <a:srgbClr val="0D1F3C"/>
          </a:solidFill>
          <a:ln w="9525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2000" y="2772000"/>
            <a:ext cx="72000" cy="1080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00" y="2862000"/>
            <a:ext cx="2376000" cy="306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 i="0">
                <a:solidFill>
                  <a:srgbClr val="FFD700"/>
                </a:solidFill>
                <a:latin typeface="맑은 고딕"/>
              </a:rPr>
              <a:t>직원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6000" y="3185999"/>
            <a:ext cx="2376000" cy="198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A0B8CC"/>
                </a:solidFill>
                <a:latin typeface="맑은 고딕"/>
              </a:rPr>
              <a:t>생산성 혁신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00" y="3402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▸  업무 실행 Agent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24000" y="2772000"/>
            <a:ext cx="2912400" cy="1080000"/>
          </a:xfrm>
          <a:prstGeom prst="rect">
            <a:avLst/>
          </a:prstGeom>
          <a:solidFill>
            <a:srgbClr val="0D1F3C"/>
          </a:solidFill>
          <a:ln w="6350">
            <a:solidFill>
              <a:srgbClr val="1A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32000" y="2880000"/>
            <a:ext cx="90000" cy="90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68000" y="3060000"/>
            <a:ext cx="2732400" cy="72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규정·매뉴얼·업무지식 수집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36400" y="2772000"/>
            <a:ext cx="2912400" cy="1080000"/>
          </a:xfrm>
          <a:prstGeom prst="rect">
            <a:avLst/>
          </a:prstGeom>
          <a:solidFill>
            <a:srgbClr val="0D1F3C"/>
          </a:solidFill>
          <a:ln w="6350">
            <a:solidFill>
              <a:srgbClr val="1A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44400" y="2880000"/>
            <a:ext cx="90000" cy="90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80400" y="3060000"/>
            <a:ext cx="2732400" cy="72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업무 지식 그래프 구축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848800" y="2772000"/>
            <a:ext cx="2912400" cy="1080000"/>
          </a:xfrm>
          <a:prstGeom prst="rect">
            <a:avLst/>
          </a:prstGeom>
          <a:solidFill>
            <a:srgbClr val="132A4D"/>
          </a:solidFill>
          <a:ln w="63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56800" y="2880000"/>
            <a:ext cx="90000" cy="90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92800" y="3060000"/>
            <a:ext cx="2732400" cy="72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맑은 고딕"/>
              </a:rPr>
              <a:t>업무 흐름별 Skill 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2000" y="3852000"/>
            <a:ext cx="2592000" cy="1080000"/>
          </a:xfrm>
          <a:prstGeom prst="rect">
            <a:avLst/>
          </a:prstGeom>
          <a:solidFill>
            <a:srgbClr val="0D1F3C"/>
          </a:solidFill>
          <a:ln w="9525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2000" y="3852000"/>
            <a:ext cx="72000" cy="1080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6000" y="3942000"/>
            <a:ext cx="2376000" cy="306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 i="0">
                <a:solidFill>
                  <a:srgbClr val="FF6B35"/>
                </a:solidFill>
                <a:latin typeface="맑은 고딕"/>
              </a:rPr>
              <a:t>리스크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000" y="4265999"/>
            <a:ext cx="2376000" cy="198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A0B8CC"/>
                </a:solidFill>
                <a:latin typeface="맑은 고딕"/>
              </a:rPr>
              <a:t>은행 생존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00" y="4482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▸  판단·통제 Agent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24000" y="3852000"/>
            <a:ext cx="2912400" cy="1080000"/>
          </a:xfrm>
          <a:prstGeom prst="rect">
            <a:avLst/>
          </a:prstGeom>
          <a:solidFill>
            <a:srgbClr val="0D1F3C"/>
          </a:solidFill>
          <a:ln w="6350">
            <a:solidFill>
              <a:srgbClr val="1A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32000" y="3960000"/>
            <a:ext cx="90000" cy="90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68000" y="4140000"/>
            <a:ext cx="2732400" cy="72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심사·사고·감사 데이터 통합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36400" y="3852000"/>
            <a:ext cx="2912400" cy="1080000"/>
          </a:xfrm>
          <a:prstGeom prst="rect">
            <a:avLst/>
          </a:prstGeom>
          <a:solidFill>
            <a:srgbClr val="0D1F3C"/>
          </a:solidFill>
          <a:ln w="6350">
            <a:solidFill>
              <a:srgbClr val="1A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44400" y="3960000"/>
            <a:ext cx="90000" cy="90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80400" y="4140000"/>
            <a:ext cx="2732400" cy="72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통제 이력 자산화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848800" y="3852000"/>
            <a:ext cx="2912400" cy="1080000"/>
          </a:xfrm>
          <a:prstGeom prst="rect">
            <a:avLst/>
          </a:prstGeom>
          <a:solidFill>
            <a:srgbClr val="132A4D"/>
          </a:solidFill>
          <a:ln w="63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956800" y="3960000"/>
            <a:ext cx="90000" cy="90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992800" y="4140000"/>
            <a:ext cx="2732400" cy="720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맑은 고딕"/>
              </a:rPr>
              <a:t>판단 근거 추적 가능화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2000" y="5778000"/>
            <a:ext cx="11329200" cy="5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0000" y="5832000"/>
            <a:ext cx="11113200" cy="216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0A1628"/>
                </a:solidFill>
                <a:latin typeface="맑은 고딕"/>
              </a:rPr>
              <a:t>우리는 단순 RAG가 아닌, 비정형 데이터를 AI 실행 자산으로 전환하는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0000" y="6012000"/>
            <a:ext cx="11113200" cy="306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0A1628"/>
                </a:solidFill>
                <a:latin typeface="맑은 고딕"/>
              </a:rPr>
              <a:t>Enterprise AI Operating Foundation 을 구축합니다.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33200" y="6102000"/>
            <a:ext cx="3420000" cy="216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000" b="1" i="0">
                <a:solidFill>
                  <a:srgbClr val="0A1628"/>
                </a:solidFill>
                <a:latin typeface="맑은 고딕"/>
              </a:rPr>
              <a:t>Ready to AI  ·  KT B2B 수주전략팀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32000" y="6408000"/>
            <a:ext cx="11329200" cy="1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40000" y="6426000"/>
            <a:ext cx="11113200" cy="14400"/>
          </a:xfrm>
          <a:prstGeom prst="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0000" y="6462000"/>
            <a:ext cx="10393200" cy="324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 i="0">
                <a:solidFill>
                  <a:srgbClr val="A0B8CC"/>
                </a:solidFill>
                <a:latin typeface="맑은 고딕"/>
              </a:rPr>
              <a:t>하나은행 비정형 데이터 자산화 플랫폼 제안  |  2026.05  |  KT B2B 수주전략팀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33200" y="6462000"/>
            <a:ext cx="720000" cy="324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 i="0">
                <a:solidFill>
                  <a:srgbClr val="A0B8CC"/>
                </a:solidFill>
                <a:latin typeface="맑은 고딕"/>
              </a:rPr>
              <a:t>2 /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