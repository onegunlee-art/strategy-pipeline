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24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224000"/>
          </a:xfrm>
          <a:prstGeom prst="rect">
            <a:avLst/>
          </a:prstGeom>
          <a:solidFill>
            <a:srgbClr val="E3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2880000" cy="198000"/>
          </a:xfrm>
          <a:prstGeom prst="rect">
            <a:avLst/>
          </a:prstGeom>
          <a:solidFill>
            <a:srgbClr val="E3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288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AI 시대 금융의 통제권 전쟁  ·  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96000"/>
            <a:ext cx="113292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AI는 이미 충분히 똑똑해졌습니다. 이제 경쟁력은 통제력입니다.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00000"/>
            <a:ext cx="113292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CCD6E0"/>
                </a:solidFill>
                <a:latin typeface="맑은 고딕"/>
              </a:rPr>
              <a:t>은행은 </a:t>
            </a:r>
            <a:r>
              <a:rPr sz="1400" b="1">
                <a:solidFill>
                  <a:srgbClr val="A0B8CC"/>
                </a:solidFill>
                <a:latin typeface="맑은 고딕"/>
              </a:rPr>
              <a:t>답변하는 조직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이 아니라  ─  </a:t>
            </a:r>
            <a:r>
              <a:rPr sz="1400" b="1">
                <a:solidFill>
                  <a:srgbClr val="E5B22D"/>
                </a:solidFill>
                <a:latin typeface="맑은 고딕"/>
              </a:rPr>
              <a:t>책임지는 조직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86000"/>
            <a:ext cx="5556600" cy="4031999"/>
          </a:xfrm>
          <a:prstGeom prst="rect">
            <a:avLst/>
          </a:prstGeom>
          <a:solidFill>
            <a:srgbClr val="0D1F3C"/>
          </a:solidFill>
          <a:ln w="1270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000" y="1386000"/>
            <a:ext cx="64800" cy="4031999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" y="1566000"/>
            <a:ext cx="1007999" cy="198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" y="1566000"/>
            <a:ext cx="1007999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AI ORGANIZATIONAL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799999"/>
            <a:ext cx="5124600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은행이 직면한 진짜 공포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088000"/>
            <a:ext cx="51246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1">
                <a:solidFill>
                  <a:srgbClr val="FF4D4D"/>
                </a:solidFill>
                <a:latin typeface="맑은 고딕"/>
              </a:rPr>
              <a:t>기술 문제가 아닙니다. 은행의 의사결정 구조가 흔들리는 문제입니다.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" y="2376000"/>
            <a:ext cx="5124600" cy="666000"/>
          </a:xfrm>
          <a:prstGeom prst="rect">
            <a:avLst/>
          </a:prstGeom>
          <a:solidFill>
            <a:srgbClr val="132A4D"/>
          </a:solidFill>
          <a:ln w="6350">
            <a:solidFill>
              <a:srgbClr val="B8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2484000"/>
            <a:ext cx="396000" cy="251999"/>
          </a:xfrm>
          <a:prstGeom prst="rect">
            <a:avLst/>
          </a:prstGeom>
          <a:solidFill>
            <a:srgbClr val="B8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2484000"/>
            <a:ext cx="396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000" y="2466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AI가 잘못 판단하면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000" y="2718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4D4D"/>
                </a:solidFill>
                <a:latin typeface="맑은 고딕"/>
              </a:rPr>
              <a:t>— 누가 책임지는가?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000" y="3096000"/>
            <a:ext cx="5124600" cy="666000"/>
          </a:xfrm>
          <a:prstGeom prst="rect">
            <a:avLst/>
          </a:prstGeom>
          <a:solidFill>
            <a:srgbClr val="132A4D"/>
          </a:solidFill>
          <a:ln w="6350">
            <a:solidFill>
              <a:srgbClr val="B8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3204000"/>
            <a:ext cx="396000" cy="251999"/>
          </a:xfrm>
          <a:prstGeom prst="rect">
            <a:avLst/>
          </a:prstGeom>
          <a:solidFill>
            <a:srgbClr val="B8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3204000"/>
            <a:ext cx="396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000" y="3186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직원이 AI만 믿기 시작하면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000" y="3438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4D4D"/>
                </a:solidFill>
                <a:latin typeface="맑은 고딕"/>
              </a:rPr>
              <a:t>— 조직의 판단력은 어디로?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8000" y="3816000"/>
            <a:ext cx="5124600" cy="666000"/>
          </a:xfrm>
          <a:prstGeom prst="rect">
            <a:avLst/>
          </a:prstGeom>
          <a:solidFill>
            <a:srgbClr val="132A4D"/>
          </a:solidFill>
          <a:ln w="6350">
            <a:solidFill>
              <a:srgbClr val="B8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0000" y="3924000"/>
            <a:ext cx="396000" cy="251999"/>
          </a:xfrm>
          <a:prstGeom prst="rect">
            <a:avLst/>
          </a:prstGeom>
          <a:solidFill>
            <a:srgbClr val="B8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000" y="3924000"/>
            <a:ext cx="396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000" y="3906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최신 규정과 충돌하는 답변이 나가면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000" y="4158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4D4D"/>
                </a:solidFill>
                <a:latin typeface="맑은 고딕"/>
              </a:rPr>
              <a:t>— 어떻게 막는가?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8000" y="4536000"/>
            <a:ext cx="5124600" cy="666000"/>
          </a:xfrm>
          <a:prstGeom prst="rect">
            <a:avLst/>
          </a:prstGeom>
          <a:solidFill>
            <a:srgbClr val="132A4D"/>
          </a:solidFill>
          <a:ln w="6350">
            <a:solidFill>
              <a:srgbClr val="B8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0000" y="4644000"/>
            <a:ext cx="396000" cy="251999"/>
          </a:xfrm>
          <a:prstGeom prst="rect">
            <a:avLst/>
          </a:prstGeom>
          <a:solidFill>
            <a:srgbClr val="B8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000" y="4644000"/>
            <a:ext cx="396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000" y="4626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감사 시점에 재현이 불가능하면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000" y="4878000"/>
            <a:ext cx="4548601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4D4D"/>
                </a:solidFill>
                <a:latin typeface="맑은 고딕"/>
              </a:rPr>
              <a:t>— 통제는 존재했다고 할 수 있는가?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4600" y="1386000"/>
            <a:ext cx="5556600" cy="4031999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04600" y="1386000"/>
            <a:ext cx="64800" cy="4031999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20600" y="1566000"/>
            <a:ext cx="1007999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0600" y="1566000"/>
            <a:ext cx="1007999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7101E"/>
                </a:solidFill>
                <a:latin typeface="맑은 고딕"/>
              </a:rPr>
              <a:t>WHY KT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0600" y="1799999"/>
            <a:ext cx="5124600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통제권 전쟁의 답 — KT의 정체성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20600" y="2106000"/>
            <a:ext cx="5124600" cy="792000"/>
          </a:xfrm>
          <a:prstGeom prst="rect">
            <a:avLst/>
          </a:prstGeom>
          <a:solidFill>
            <a:srgbClr val="18335A"/>
          </a:solidFill>
          <a:ln w="9525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0600" y="2106000"/>
            <a:ext cx="28800" cy="792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28600" y="2214000"/>
            <a:ext cx="49086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  <a:latin typeface="맑은 고딕"/>
              </a:rPr>
              <a:t>KT는 AI를 화려하게 만드는 회사가 아닙니다.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28600" y="2466000"/>
            <a:ext cx="49086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800" b="1" i="0">
                <a:solidFill>
                  <a:srgbClr val="E5B22D"/>
                </a:solidFill>
                <a:latin typeface="맑은 고딕"/>
              </a:rPr>
              <a:t>멈추면 안 되는 시스템을 운영해온 회사입니다.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20600" y="3006000"/>
            <a:ext cx="2526300" cy="1133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28600" y="3114000"/>
            <a:ext cx="144000" cy="144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28600" y="3114000"/>
            <a:ext cx="144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7101E"/>
                </a:solidFill>
                <a:latin typeface="맑은 고딕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6600" y="3096000"/>
            <a:ext cx="21663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맑은 고딕"/>
              </a:rPr>
              <a:t>국가 인프라 DNA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6599" y="3348000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통신망 24×365 운영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6599" y="3546000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1">
                <a:solidFill>
                  <a:srgbClr val="E5B22D"/>
                </a:solidFill>
                <a:latin typeface="맑은 고딕"/>
              </a:rPr>
              <a:t>▸  장애 = 국가 단위 영향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8900" y="3006000"/>
            <a:ext cx="2526300" cy="1133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6900" y="3114000"/>
            <a:ext cx="144000" cy="144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6900" y="3114000"/>
            <a:ext cx="144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7101E"/>
                </a:solidFill>
                <a:latin typeface="맑은 고딕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4900" y="3096000"/>
            <a:ext cx="21663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맑은 고딕"/>
              </a:rPr>
              <a:t>미션 크리티컬 관제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899" y="3348000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관제 · 장애 대응 · 이중화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899" y="3546000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1">
                <a:solidFill>
                  <a:srgbClr val="E5B22D"/>
                </a:solidFill>
                <a:latin typeface="맑은 고딕"/>
              </a:rPr>
              <a:t>▸  멈춤이 허용되지 않는 운영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20600" y="4193999"/>
            <a:ext cx="2526300" cy="1133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28600" y="4301999"/>
            <a:ext cx="144000" cy="144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28600" y="4301999"/>
            <a:ext cx="144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7101E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6600" y="4283999"/>
            <a:ext cx="21663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맑은 고딕"/>
              </a:rPr>
              <a:t>금융 IT 실적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46599" y="4535999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전 시중은행급 인프라 운영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46599" y="4733999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1">
                <a:solidFill>
                  <a:srgbClr val="E5B22D"/>
                </a:solidFill>
                <a:latin typeface="맑은 고딕"/>
              </a:rPr>
              <a:t>▸  규제 · 감사 대응 경험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18900" y="4193999"/>
            <a:ext cx="2526300" cy="1133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126900" y="4301999"/>
            <a:ext cx="144000" cy="144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26900" y="4301999"/>
            <a:ext cx="144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7101E"/>
                </a:solidFill>
                <a:latin typeface="맑은 고딕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4900" y="4283999"/>
            <a:ext cx="21663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맑은 고딕"/>
              </a:rPr>
              <a:t>AI Foundation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899" y="4535999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자체 모델 + KT Cloud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899" y="4733999"/>
            <a:ext cx="2346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1">
                <a:solidFill>
                  <a:srgbClr val="E5B22D"/>
                </a:solidFill>
                <a:latin typeface="맑은 고딕"/>
              </a:rPr>
              <a:t>▸  외부 의존 없는 통제 가능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5886000"/>
            <a:ext cx="11329200" cy="55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0000" y="5940000"/>
            <a:ext cx="111132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07101E"/>
                </a:solidFill>
                <a:latin typeface="맑은 고딕"/>
              </a:rPr>
              <a:t>통제권을 가진 자가 AI 시대 금융을 이깁니다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0000" y="6228000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0">
                <a:solidFill>
                  <a:srgbClr val="07101E"/>
                </a:solidFill>
                <a:latin typeface="맑은 고딕"/>
              </a:rPr>
              <a:t>AI를 통제하는 금융, 하나은행  ─  KT가 그 통제 인프라를 짓습니다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24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224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3240000" cy="19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324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7101E"/>
                </a:solidFill>
                <a:latin typeface="맑은 고딕"/>
              </a:rPr>
              <a:t>통제 × 운영  ·  HOW WE WIN THE CONTROL WAR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96000"/>
            <a:ext cx="113292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AI는 구축이 아니라 운영에서 무너집니다.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00000"/>
            <a:ext cx="113292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CCD6E0"/>
                </a:solidFill>
                <a:latin typeface="맑은 고딕"/>
              </a:rPr>
              <a:t>초기 구축보다 </a:t>
            </a:r>
            <a:r>
              <a:rPr sz="1400" b="1">
                <a:solidFill>
                  <a:srgbClr val="FF6B35"/>
                </a:solidFill>
                <a:latin typeface="맑은 고딕"/>
              </a:rPr>
              <a:t>장기 운영비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가 무섭다  ─  지속 가능한 </a:t>
            </a:r>
            <a:r>
              <a:rPr sz="1400" b="1">
                <a:solidFill>
                  <a:srgbClr val="00D4FF"/>
                </a:solidFill>
                <a:latin typeface="맑은 고딕"/>
              </a:rPr>
              <a:t>통제 체계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만이 답이다.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86000"/>
            <a:ext cx="144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000" y="1386000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PART 1.  통제 — 출처가 박힌 데이터만 학습하고, 인용 가능한 응답만 전달한다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000" y="1637999"/>
            <a:ext cx="11329200" cy="324000"/>
          </a:xfrm>
          <a:prstGeom prst="rect">
            <a:avLst/>
          </a:prstGeom>
          <a:solidFill>
            <a:srgbClr val="132A4D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702799"/>
            <a:ext cx="180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0" i="1">
                <a:solidFill>
                  <a:srgbClr val="A0B8CC"/>
                </a:solidFill>
                <a:latin typeface="맑은 고딕"/>
              </a:rPr>
              <a:t>▼  Cross-cutting Controls</a:t>
            </a:r>
          </a:p>
        </p:txBody>
      </p:sp>
      <p:sp>
        <p:nvSpPr>
          <p:cNvPr id="12" name="Oval 11"/>
          <p:cNvSpPr/>
          <p:nvPr/>
        </p:nvSpPr>
        <p:spPr>
          <a:xfrm>
            <a:off x="2880000" y="1738799"/>
            <a:ext cx="108000" cy="108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4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맑은 고딕"/>
              </a:rPr>
              <a:t>출처</a:t>
            </a:r>
          </a:p>
        </p:txBody>
      </p:sp>
      <p:sp>
        <p:nvSpPr>
          <p:cNvPr id="14" name="Oval 13"/>
          <p:cNvSpPr/>
          <p:nvPr/>
        </p:nvSpPr>
        <p:spPr>
          <a:xfrm>
            <a:off x="4032000" y="1738799"/>
            <a:ext cx="108000" cy="108000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6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B46BFF"/>
                </a:solidFill>
                <a:latin typeface="맑은 고딕"/>
              </a:rPr>
              <a:t>감사</a:t>
            </a:r>
          </a:p>
        </p:txBody>
      </p:sp>
      <p:sp>
        <p:nvSpPr>
          <p:cNvPr id="16" name="Oval 15"/>
          <p:cNvSpPr/>
          <p:nvPr/>
        </p:nvSpPr>
        <p:spPr>
          <a:xfrm>
            <a:off x="5184000" y="1738799"/>
            <a:ext cx="108000" cy="108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8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접근</a:t>
            </a:r>
          </a:p>
        </p:txBody>
      </p:sp>
      <p:sp>
        <p:nvSpPr>
          <p:cNvPr id="18" name="Oval 17"/>
          <p:cNvSpPr/>
          <p:nvPr/>
        </p:nvSpPr>
        <p:spPr>
          <a:xfrm>
            <a:off x="6336000" y="1738799"/>
            <a:ext cx="108000" cy="108000"/>
          </a:xfrm>
          <a:prstGeom prst="ellipse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000" y="2051999"/>
            <a:ext cx="2778300" cy="39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원천 → 출처 태그 부착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0" y="2987999"/>
            <a:ext cx="2562300" cy="1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0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raw + meta</a:t>
            </a:r>
          </a:p>
        </p:txBody>
      </p:sp>
      <p:sp>
        <p:nvSpPr>
          <p:cNvPr id="28" name="Chevron 27"/>
          <p:cNvSpPr/>
          <p:nvPr/>
        </p:nvSpPr>
        <p:spPr>
          <a:xfrm>
            <a:off x="3210300" y="2555999"/>
            <a:ext cx="72000" cy="251999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23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82300" y="2051999"/>
            <a:ext cx="2778300" cy="396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23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23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저장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823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Govern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03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B46BFF"/>
                </a:solidFill>
                <a:latin typeface="맑은 고딕"/>
              </a:rPr>
              <a:t>출처 보존 + 접근 통제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90300" y="2987999"/>
            <a:ext cx="2562300" cy="180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903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stored + audit</a:t>
            </a:r>
          </a:p>
        </p:txBody>
      </p:sp>
      <p:sp>
        <p:nvSpPr>
          <p:cNvPr id="37" name="Chevron 36"/>
          <p:cNvSpPr/>
          <p:nvPr/>
        </p:nvSpPr>
        <p:spPr>
          <a:xfrm>
            <a:off x="6060600" y="2555999"/>
            <a:ext cx="72000" cy="251999"/>
          </a:xfrm>
          <a:prstGeom prst="chevron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326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32600" y="2051999"/>
            <a:ext cx="2778300" cy="396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26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26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가공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26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Process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06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맑은 고딕"/>
              </a:rPr>
              <a:t>AI Ready化 + 정합성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0600" y="2987999"/>
            <a:ext cx="2562300" cy="180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06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ai-ready</a:t>
            </a:r>
          </a:p>
        </p:txBody>
      </p:sp>
      <p:sp>
        <p:nvSpPr>
          <p:cNvPr id="46" name="Chevron 45"/>
          <p:cNvSpPr/>
          <p:nvPr/>
        </p:nvSpPr>
        <p:spPr>
          <a:xfrm>
            <a:off x="8910900" y="2555999"/>
            <a:ext cx="72000" cy="251999"/>
          </a:xfrm>
          <a:prstGeom prst="chevron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829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82900" y="2051999"/>
            <a:ext cx="2778300" cy="396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729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829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활용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29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Serve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09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출처 인용 + 응답 검증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0900" y="2987999"/>
            <a:ext cx="2562300" cy="18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09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served + cited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3455999"/>
            <a:ext cx="144000" cy="19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000" y="3455999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PART 2.  운영 — 구축의 5배는 운영에서 나간다. 우리는 그 5배를 줄인다.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2000" y="3707998"/>
            <a:ext cx="64800" cy="129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OpenSearch 기반 자산화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Elastic 상용 라이선스 락인 제거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00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00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  <a:latin typeface="맑은 고딕"/>
              </a:rPr>
              <a:t>−40%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00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라이선스 비용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444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44400" y="3707998"/>
            <a:ext cx="64800" cy="1296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84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84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Hot · Warm · Cold 티어링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84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조회 빈도 기반 자동 이관 — 5년 TCO 압축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524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524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00E096"/>
                </a:solidFill>
                <a:latin typeface="맑은 고딕"/>
              </a:rPr>
              <a:t>−60%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524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스토리지 TCO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568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56800" y="3707998"/>
            <a:ext cx="64800" cy="1296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008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E5B22D"/>
                </a:solidFill>
                <a:latin typeface="맑은 고딕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008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KT Cloud + 자체 모델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008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외부 토큰 비용 의존 제거 — 운영 예측 가능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1648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48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E5B22D"/>
                </a:solidFill>
                <a:latin typeface="맑은 고딕"/>
              </a:rPr>
              <a:t>3:7 → 7:3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648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구축 : 운영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5147998"/>
            <a:ext cx="11329200" cy="55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0000" y="5201998"/>
            <a:ext cx="111132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07101E"/>
                </a:solidFill>
                <a:latin typeface="맑은 고딕"/>
              </a:rPr>
              <a:t>통제 + 지속성 = 진짜 AI 운영 체계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0000" y="5489998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0">
                <a:solidFill>
                  <a:srgbClr val="07101E"/>
                </a:solidFill>
                <a:latin typeface="맑은 고딕"/>
              </a:rPr>
              <a:t>AI 도입이 아니라, 지속 가능한 AI 운영 체계를 짓습니다  ─  하나은행이 요구한 것은 바로 그것입니다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