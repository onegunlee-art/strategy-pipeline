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0000" cy="1044000"/>
          </a:xfrm>
          <a:prstGeom prst="rect">
            <a:avLst/>
          </a:prstGeom>
          <a:solidFill>
            <a:srgbClr val="E5B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2000" y="125999"/>
            <a:ext cx="3420000" cy="180000"/>
          </a:xfrm>
          <a:prstGeom prst="rect">
            <a:avLst/>
          </a:prstGeom>
          <a:solidFill>
            <a:srgbClr val="E5B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125999"/>
            <a:ext cx="342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1" i="0">
                <a:solidFill>
                  <a:srgbClr val="07101E"/>
                </a:solidFill>
                <a:latin typeface="맑은 고딕"/>
              </a:rPr>
              <a:t>관통 메시지  ·  THE FOUNDATION OF 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342000"/>
            <a:ext cx="11329200" cy="37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맑은 고딕"/>
              </a:rPr>
              <a:t>리스크를 통제할 때, 고객과 직원의 안정감이 지속됩니다.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756000"/>
            <a:ext cx="11329200" cy="216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>
                <a:solidFill>
                  <a:srgbClr val="CCD6E0"/>
                </a:solidFill>
                <a:latin typeface="맑은 고딕"/>
              </a:rPr>
              <a:t>수집부터 가공까지  ─  </a:t>
            </a:r>
            <a:r>
              <a:rPr sz="1200" b="1">
                <a:solidFill>
                  <a:srgbClr val="00D4FF"/>
                </a:solidFill>
                <a:latin typeface="맑은 고딕"/>
              </a:rPr>
              <a:t>AI 통제 가능한 비정형 데이터 플랫폼</a:t>
            </a:r>
            <a:r>
              <a:rPr sz="1200" b="0">
                <a:solidFill>
                  <a:srgbClr val="CCD6E0"/>
                </a:solidFill>
                <a:latin typeface="맑은 고딕"/>
              </a:rPr>
              <a:t>이 그 토대입니다.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13200" y="342000"/>
            <a:ext cx="252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r"/>
            <a:r>
              <a:rPr sz="900" b="0" i="1">
                <a:solidFill>
                  <a:srgbClr val="A0B8CC"/>
                </a:solidFill>
                <a:latin typeface="맑은 고딕"/>
              </a:rPr>
              <a:t>▼  표면 (사람이 느끼는 것)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13200" y="540000"/>
            <a:ext cx="252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r"/>
            <a:r>
              <a:rPr sz="900" b="0" i="1">
                <a:solidFill>
                  <a:srgbClr val="E5B22D"/>
                </a:solidFill>
                <a:latin typeface="맑은 고딕"/>
              </a:rPr>
              <a:t>▲  토대 (받쳐주는 것)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29999" y="1116000"/>
            <a:ext cx="10231201" cy="972000"/>
          </a:xfrm>
          <a:prstGeom prst="rect">
            <a:avLst/>
          </a:prstGeom>
          <a:solidFill>
            <a:srgbClr val="1A170C"/>
          </a:solidFill>
          <a:ln w="7620">
            <a:solidFill>
              <a:srgbClr val="E5B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29999" y="1116000"/>
            <a:ext cx="64800" cy="972000"/>
          </a:xfrm>
          <a:prstGeom prst="rect">
            <a:avLst/>
          </a:prstGeom>
          <a:solidFill>
            <a:srgbClr val="E5B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000" y="1116000"/>
            <a:ext cx="1007999" cy="972000"/>
          </a:xfrm>
          <a:prstGeom prst="rect">
            <a:avLst/>
          </a:prstGeom>
          <a:solidFill>
            <a:srgbClr val="0D1F3C"/>
          </a:solidFill>
          <a:ln w="5080">
            <a:solidFill>
              <a:srgbClr val="E5B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000" y="1260000"/>
            <a:ext cx="1007999" cy="16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0">
                <a:solidFill>
                  <a:srgbClr val="E5B22D"/>
                </a:solidFill>
                <a:latin typeface="맑은 고딕"/>
              </a:rPr>
              <a:t>LAYER 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1422000"/>
            <a:ext cx="1007999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맑은 고딕"/>
              </a:rPr>
              <a:t>표면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1674000"/>
            <a:ext cx="1007999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800" b="0" i="1">
                <a:solidFill>
                  <a:srgbClr val="A0B8CC"/>
                </a:solidFill>
                <a:latin typeface="맑은 고딕"/>
              </a:rPr>
              <a:t>Surface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9999" y="1188000"/>
            <a:ext cx="9871201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1" i="0">
                <a:solidFill>
                  <a:srgbClr val="E5B22D"/>
                </a:solidFill>
                <a:latin typeface="맑은 고딕"/>
              </a:rPr>
              <a:t>안정감의 지속  ─  사람이 흔들리지 않는다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09999" y="1422000"/>
            <a:ext cx="4863600" cy="594000"/>
          </a:xfrm>
          <a:prstGeom prst="rect">
            <a:avLst/>
          </a:prstGeom>
          <a:solidFill>
            <a:srgbClr val="132A4D"/>
          </a:solidFill>
          <a:ln w="762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53999" y="1547999"/>
            <a:ext cx="306000" cy="3060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53999" y="1547999"/>
            <a:ext cx="306000" cy="30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400" b="1" i="0">
                <a:solidFill>
                  <a:srgbClr val="07101E"/>
                </a:solidFill>
                <a:latin typeface="맑은 고딕"/>
              </a:rPr>
              <a:t>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31999" y="1530000"/>
            <a:ext cx="42516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맑은 고딕"/>
              </a:rPr>
              <a:t>대고객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31999" y="1702800"/>
            <a:ext cx="42516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흔들리지 않는 응대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17599" y="1422000"/>
            <a:ext cx="4863600" cy="594000"/>
          </a:xfrm>
          <a:prstGeom prst="rect">
            <a:avLst/>
          </a:prstGeom>
          <a:solidFill>
            <a:srgbClr val="132A4D"/>
          </a:solidFill>
          <a:ln w="762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861599" y="1547999"/>
            <a:ext cx="306000" cy="3060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61599" y="1547999"/>
            <a:ext cx="306000" cy="30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400" b="1" i="0">
                <a:solidFill>
                  <a:srgbClr val="07101E"/>
                </a:solidFill>
                <a:latin typeface="맑은 고딕"/>
              </a:rPr>
              <a:t>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9599" y="1530000"/>
            <a:ext cx="42516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맑은 고딕"/>
              </a:rPr>
              <a:t>대직원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9599" y="1702800"/>
            <a:ext cx="42516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흔들리지 않는 판단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9999" y="2088000"/>
            <a:ext cx="10231201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A0B8CC"/>
                </a:solidFill>
                <a:latin typeface="맑은 고딕"/>
              </a:rPr>
              <a:t>▲   보호받는다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29999" y="2250000"/>
            <a:ext cx="10231201" cy="756000"/>
          </a:xfrm>
          <a:prstGeom prst="rect">
            <a:avLst/>
          </a:prstGeom>
          <a:solidFill>
            <a:srgbClr val="0D1F3C"/>
          </a:solidFill>
          <a:ln w="8890">
            <a:solidFill>
              <a:srgbClr val="FF4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9999" y="2250000"/>
            <a:ext cx="64800" cy="75600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2000" y="2250000"/>
            <a:ext cx="1007999" cy="756000"/>
          </a:xfrm>
          <a:prstGeom prst="rect">
            <a:avLst/>
          </a:prstGeom>
          <a:solidFill>
            <a:srgbClr val="0D1F3C"/>
          </a:solidFill>
          <a:ln w="5080">
            <a:solidFill>
              <a:srgbClr val="FF4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2000" y="2340000"/>
            <a:ext cx="1007999" cy="16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0">
                <a:solidFill>
                  <a:srgbClr val="FF4D4D"/>
                </a:solidFill>
                <a:latin typeface="맑은 고딕"/>
              </a:rPr>
              <a:t>LAYER 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2000" y="2501999"/>
            <a:ext cx="1007999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맑은 고딕"/>
              </a:rPr>
              <a:t>통제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2000" y="2753999"/>
            <a:ext cx="1007999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800" b="0" i="1">
                <a:solidFill>
                  <a:srgbClr val="A0B8CC"/>
                </a:solidFill>
                <a:latin typeface="맑은 고딕"/>
              </a:rPr>
              <a:t>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09999" y="2304000"/>
            <a:ext cx="9871201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1" i="0">
                <a:solidFill>
                  <a:srgbClr val="FF4D4D"/>
                </a:solidFill>
                <a:latin typeface="맑은 고딕"/>
              </a:rPr>
              <a:t>리스크 통제  ─  4축 가드레일</a:t>
            </a:r>
          </a:p>
        </p:txBody>
      </p:sp>
      <p:sp>
        <p:nvSpPr>
          <p:cNvPr id="35" name="Pentagon 34"/>
          <p:cNvSpPr/>
          <p:nvPr/>
        </p:nvSpPr>
        <p:spPr>
          <a:xfrm>
            <a:off x="1709999" y="2520000"/>
            <a:ext cx="2400300" cy="414000"/>
          </a:xfrm>
          <a:prstGeom prst="homePlate">
            <a:avLst/>
          </a:prstGeom>
          <a:solidFill>
            <a:srgbClr val="132A4D"/>
          </a:solidFill>
          <a:ln w="63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852549" y="2574000"/>
            <a:ext cx="115200" cy="1152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09999" y="2700000"/>
            <a:ext cx="24003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300" b="1" i="0">
                <a:solidFill>
                  <a:srgbClr val="FFD700"/>
                </a:solidFill>
                <a:latin typeface="맑은 고딕"/>
              </a:rPr>
              <a:t>출처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09999" y="2880000"/>
            <a:ext cx="24003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800" b="0" i="1">
                <a:solidFill>
                  <a:srgbClr val="CCD6E0"/>
                </a:solidFill>
                <a:latin typeface="맑은 고딕"/>
              </a:rPr>
              <a:t>Provenance</a:t>
            </a:r>
          </a:p>
        </p:txBody>
      </p:sp>
      <p:sp>
        <p:nvSpPr>
          <p:cNvPr id="39" name="Pentagon 38"/>
          <p:cNvSpPr/>
          <p:nvPr/>
        </p:nvSpPr>
        <p:spPr>
          <a:xfrm>
            <a:off x="4200299" y="2520000"/>
            <a:ext cx="2400300" cy="414000"/>
          </a:xfrm>
          <a:prstGeom prst="homePlate">
            <a:avLst/>
          </a:prstGeom>
          <a:solidFill>
            <a:srgbClr val="132A4D"/>
          </a:solidFill>
          <a:ln w="6350">
            <a:solidFill>
              <a:srgbClr val="B4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342849" y="2574000"/>
            <a:ext cx="115200" cy="115200"/>
          </a:xfrm>
          <a:prstGeom prst="ellipse">
            <a:avLst/>
          </a:prstGeom>
          <a:solidFill>
            <a:srgbClr val="B4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00299" y="2700000"/>
            <a:ext cx="24003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300" b="1" i="0">
                <a:solidFill>
                  <a:srgbClr val="B46BFF"/>
                </a:solidFill>
                <a:latin typeface="맑은 고딕"/>
              </a:rPr>
              <a:t>감사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00299" y="2880000"/>
            <a:ext cx="24003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800" b="0" i="1">
                <a:solidFill>
                  <a:srgbClr val="CCD6E0"/>
                </a:solidFill>
                <a:latin typeface="맑은 고딕"/>
              </a:rPr>
              <a:t>Audit</a:t>
            </a:r>
          </a:p>
        </p:txBody>
      </p:sp>
      <p:sp>
        <p:nvSpPr>
          <p:cNvPr id="43" name="Pentagon 42"/>
          <p:cNvSpPr/>
          <p:nvPr/>
        </p:nvSpPr>
        <p:spPr>
          <a:xfrm>
            <a:off x="6690599" y="2520000"/>
            <a:ext cx="2400300" cy="414000"/>
          </a:xfrm>
          <a:prstGeom prst="homePlate">
            <a:avLst/>
          </a:prstGeom>
          <a:solidFill>
            <a:srgbClr val="132A4D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833149" y="2574000"/>
            <a:ext cx="115200" cy="115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90599" y="2700000"/>
            <a:ext cx="24003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  <a:latin typeface="맑은 고딕"/>
              </a:rPr>
              <a:t>접근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90599" y="2880000"/>
            <a:ext cx="24003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800" b="0" i="1">
                <a:solidFill>
                  <a:srgbClr val="CCD6E0"/>
                </a:solidFill>
                <a:latin typeface="맑은 고딕"/>
              </a:rPr>
              <a:t>Access</a:t>
            </a:r>
          </a:p>
        </p:txBody>
      </p:sp>
      <p:sp>
        <p:nvSpPr>
          <p:cNvPr id="47" name="Pentagon 46"/>
          <p:cNvSpPr/>
          <p:nvPr/>
        </p:nvSpPr>
        <p:spPr>
          <a:xfrm>
            <a:off x="9180899" y="2520000"/>
            <a:ext cx="2400300" cy="414000"/>
          </a:xfrm>
          <a:prstGeom prst="homePlate">
            <a:avLst/>
          </a:prstGeom>
          <a:solidFill>
            <a:srgbClr val="132A4D"/>
          </a:solidFill>
          <a:ln w="635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323449" y="2574000"/>
            <a:ext cx="115200" cy="115200"/>
          </a:xfrm>
          <a:prstGeom prst="ellipse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80899" y="2700000"/>
            <a:ext cx="24003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300" b="1" i="0">
                <a:solidFill>
                  <a:srgbClr val="00E096"/>
                </a:solidFill>
                <a:latin typeface="맑은 고딕"/>
              </a:rPr>
              <a:t>품질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80899" y="2880000"/>
            <a:ext cx="24003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800" b="0" i="1">
                <a:solidFill>
                  <a:srgbClr val="CCD6E0"/>
                </a:solidFill>
                <a:latin typeface="맑은 고딕"/>
              </a:rPr>
              <a:t>Quality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9999" y="3006000"/>
            <a:ext cx="10231201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A0B8CC"/>
                </a:solidFill>
                <a:latin typeface="맑은 고딕"/>
              </a:rPr>
              <a:t>▲   통제 가능한 형태로 가공되어 올라온다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29999" y="3168000"/>
            <a:ext cx="10231201" cy="827999"/>
          </a:xfrm>
          <a:prstGeom prst="rect">
            <a:avLst/>
          </a:prstGeom>
          <a:solidFill>
            <a:srgbClr val="0D1F3C"/>
          </a:solidFill>
          <a:ln w="889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529999" y="3168000"/>
            <a:ext cx="64800" cy="827999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32000" y="3168000"/>
            <a:ext cx="1007999" cy="827999"/>
          </a:xfrm>
          <a:prstGeom prst="rect">
            <a:avLst/>
          </a:prstGeom>
          <a:solidFill>
            <a:srgbClr val="0D1F3C"/>
          </a:solidFill>
          <a:ln w="508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2000" y="3276000"/>
            <a:ext cx="1007999" cy="16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0">
                <a:solidFill>
                  <a:srgbClr val="00D4FF"/>
                </a:solidFill>
                <a:latin typeface="맑은 고딕"/>
              </a:rPr>
              <a:t>LAYER 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2000" y="3448800"/>
            <a:ext cx="1007999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맑은 고딕"/>
              </a:rPr>
              <a:t>플랫폼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2000" y="3708000"/>
            <a:ext cx="1007999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800" b="0" i="1">
                <a:solidFill>
                  <a:srgbClr val="A0B8CC"/>
                </a:solidFill>
                <a:latin typeface="맑은 고딕"/>
              </a:rPr>
              <a:t>Platform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09999" y="3222000"/>
            <a:ext cx="9871201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맑은 고딕"/>
              </a:rPr>
              <a:t>비정형 데이터 플랫폼  ─  수집부터 가공까지 통제 가능한 흐름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709999" y="3438000"/>
            <a:ext cx="3170400" cy="485999"/>
          </a:xfrm>
          <a:prstGeom prst="rect">
            <a:avLst/>
          </a:prstGeom>
          <a:solidFill>
            <a:srgbClr val="132A4D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709999" y="3438000"/>
            <a:ext cx="3170400" cy="198000"/>
          </a:xfrm>
          <a:prstGeom prst="rect">
            <a:avLst/>
          </a:prstGeom>
          <a:solidFill>
            <a:srgbClr val="008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799999" y="3466800"/>
            <a:ext cx="3600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1" i="0">
                <a:solidFill>
                  <a:srgbClr val="07101E"/>
                </a:solidFill>
                <a:latin typeface="맑은 고딕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09999" y="3466800"/>
            <a:ext cx="31704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200" b="1" i="0">
                <a:solidFill>
                  <a:srgbClr val="07101E"/>
                </a:solidFill>
                <a:latin typeface="맑은 고딕"/>
              </a:rPr>
              <a:t>수집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09999" y="3672000"/>
            <a:ext cx="31704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00D4FF"/>
                </a:solidFill>
                <a:latin typeface="맑은 고딕"/>
              </a:rPr>
              <a:t>Ingest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799999" y="3816000"/>
            <a:ext cx="29904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맑은 고딕"/>
              </a:rPr>
              <a:t>원천 + 출처 태그</a:t>
            </a:r>
          </a:p>
        </p:txBody>
      </p:sp>
      <p:sp>
        <p:nvSpPr>
          <p:cNvPr id="65" name="Chevron 64"/>
          <p:cNvSpPr/>
          <p:nvPr/>
        </p:nvSpPr>
        <p:spPr>
          <a:xfrm>
            <a:off x="4880399" y="3601799"/>
            <a:ext cx="108000" cy="162000"/>
          </a:xfrm>
          <a:prstGeom prst="chevron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952399" y="3438000"/>
            <a:ext cx="3170400" cy="485999"/>
          </a:xfrm>
          <a:prstGeom prst="rect">
            <a:avLst/>
          </a:prstGeom>
          <a:solidFill>
            <a:srgbClr val="132A4D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952399" y="3438000"/>
            <a:ext cx="3170400" cy="198000"/>
          </a:xfrm>
          <a:prstGeom prst="rect">
            <a:avLst/>
          </a:prstGeom>
          <a:solidFill>
            <a:srgbClr val="008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42399" y="3466800"/>
            <a:ext cx="3600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1" i="0">
                <a:solidFill>
                  <a:srgbClr val="07101E"/>
                </a:solidFill>
                <a:latin typeface="맑은 고딕"/>
              </a:rPr>
              <a:t>02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52399" y="3466800"/>
            <a:ext cx="31704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200" b="1" i="0">
                <a:solidFill>
                  <a:srgbClr val="07101E"/>
                </a:solidFill>
                <a:latin typeface="맑은 고딕"/>
              </a:rPr>
              <a:t>저장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52399" y="3672000"/>
            <a:ext cx="31704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00D4FF"/>
                </a:solidFill>
                <a:latin typeface="맑은 고딕"/>
              </a:rPr>
              <a:t>Govern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42399" y="3816000"/>
            <a:ext cx="29904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맑은 고딕"/>
              </a:rPr>
              <a:t>보존 + 접근 통제</a:t>
            </a:r>
          </a:p>
        </p:txBody>
      </p:sp>
      <p:sp>
        <p:nvSpPr>
          <p:cNvPr id="72" name="Chevron 71"/>
          <p:cNvSpPr/>
          <p:nvPr/>
        </p:nvSpPr>
        <p:spPr>
          <a:xfrm>
            <a:off x="8122799" y="3601799"/>
            <a:ext cx="108000" cy="162000"/>
          </a:xfrm>
          <a:prstGeom prst="chevron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194799" y="3438000"/>
            <a:ext cx="3170400" cy="485999"/>
          </a:xfrm>
          <a:prstGeom prst="rect">
            <a:avLst/>
          </a:prstGeom>
          <a:solidFill>
            <a:srgbClr val="132A4D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194799" y="3438000"/>
            <a:ext cx="3170400" cy="198000"/>
          </a:xfrm>
          <a:prstGeom prst="rect">
            <a:avLst/>
          </a:prstGeom>
          <a:solidFill>
            <a:srgbClr val="008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84799" y="3466800"/>
            <a:ext cx="3600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1" i="0">
                <a:solidFill>
                  <a:srgbClr val="07101E"/>
                </a:solidFill>
                <a:latin typeface="맑은 고딕"/>
              </a:rPr>
              <a:t>03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94799" y="3466800"/>
            <a:ext cx="31704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200" b="1" i="0">
                <a:solidFill>
                  <a:srgbClr val="07101E"/>
                </a:solidFill>
                <a:latin typeface="맑은 고딕"/>
              </a:rPr>
              <a:t>가공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94799" y="3672000"/>
            <a:ext cx="31704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00D4FF"/>
                </a:solidFill>
                <a:latin typeface="맑은 고딕"/>
              </a:rPr>
              <a:t>Process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84799" y="3816000"/>
            <a:ext cx="29904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맑은 고딕"/>
              </a:rPr>
              <a:t>AI Ready化 + 정합성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29999" y="3995999"/>
            <a:ext cx="10231201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E5B22D"/>
                </a:solidFill>
                <a:latin typeface="맑은 고딕"/>
              </a:rPr>
              <a:t>▲   받쳐주고  ·  멈추지 않게 한다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529999" y="4157999"/>
            <a:ext cx="10231201" cy="1044000"/>
          </a:xfrm>
          <a:prstGeom prst="rect">
            <a:avLst/>
          </a:prstGeom>
          <a:solidFill>
            <a:srgbClr val="E31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637999" y="5201999"/>
            <a:ext cx="10015201" cy="64800"/>
          </a:xfrm>
          <a:prstGeom prst="rect">
            <a:avLst/>
          </a:prstGeom>
          <a:solidFill>
            <a:srgbClr val="60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32000" y="4157999"/>
            <a:ext cx="1007999" cy="1044000"/>
          </a:xfrm>
          <a:prstGeom prst="rect">
            <a:avLst/>
          </a:prstGeom>
          <a:solidFill>
            <a:srgbClr val="E3143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2000" y="4283998"/>
            <a:ext cx="1007999" cy="16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LAYER 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2000" y="4463999"/>
            <a:ext cx="1007999" cy="30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맑은 고딕"/>
              </a:rPr>
              <a:t>토대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32000" y="4769999"/>
            <a:ext cx="1007999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800" b="0" i="1">
                <a:solidFill>
                  <a:srgbClr val="CCD6E0"/>
                </a:solidFill>
                <a:latin typeface="맑은 고딕"/>
              </a:rPr>
              <a:t>Foundation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76000" y="4931999"/>
            <a:ext cx="719999" cy="1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6000" y="4931999"/>
            <a:ext cx="719999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0">
                <a:solidFill>
                  <a:srgbClr val="E31435"/>
                </a:solidFill>
                <a:latin typeface="맑은 고딕"/>
              </a:rPr>
              <a:t>WHY KT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45999" y="4247999"/>
            <a:ext cx="9799201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맑은 고딕"/>
              </a:rPr>
              <a:t>INFRASTRUCTURE  ·  멈추지 않는 운영 DNA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745999" y="4445999"/>
            <a:ext cx="9799201" cy="34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통신을 멈추지 않게 운영해온 단 하나의 회사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745999" y="4823999"/>
            <a:ext cx="9799201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맑은 고딕"/>
              </a:rPr>
              <a:t>이 모든 레이어를 받칠 수 있는 토대는, KT의 인프라 운영 DNA 하나입니다.</a:t>
            </a:r>
          </a:p>
        </p:txBody>
      </p:sp>
      <p:sp>
        <p:nvSpPr>
          <p:cNvPr id="91" name="Trapezoid 90"/>
          <p:cNvSpPr/>
          <p:nvPr/>
        </p:nvSpPr>
        <p:spPr>
          <a:xfrm>
            <a:off x="1745999" y="4859999"/>
            <a:ext cx="180000" cy="251999"/>
          </a:xfrm>
          <a:prstGeom prst="trapezoid">
            <a:avLst/>
          </a:prstGeom>
          <a:solidFill>
            <a:srgbClr val="FF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rapezoid 91"/>
          <p:cNvSpPr/>
          <p:nvPr/>
        </p:nvSpPr>
        <p:spPr>
          <a:xfrm>
            <a:off x="3120170" y="4859999"/>
            <a:ext cx="180000" cy="251999"/>
          </a:xfrm>
          <a:prstGeom prst="trapezoid">
            <a:avLst/>
          </a:prstGeom>
          <a:solidFill>
            <a:srgbClr val="FF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rapezoid 92"/>
          <p:cNvSpPr/>
          <p:nvPr/>
        </p:nvSpPr>
        <p:spPr>
          <a:xfrm>
            <a:off x="4494342" y="4859999"/>
            <a:ext cx="180000" cy="251999"/>
          </a:xfrm>
          <a:prstGeom prst="trapezoid">
            <a:avLst/>
          </a:prstGeom>
          <a:solidFill>
            <a:srgbClr val="FF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rapezoid 93"/>
          <p:cNvSpPr/>
          <p:nvPr/>
        </p:nvSpPr>
        <p:spPr>
          <a:xfrm>
            <a:off x="5868513" y="4859999"/>
            <a:ext cx="180000" cy="251999"/>
          </a:xfrm>
          <a:prstGeom prst="trapezoid">
            <a:avLst/>
          </a:prstGeom>
          <a:solidFill>
            <a:srgbClr val="FF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rapezoid 94"/>
          <p:cNvSpPr/>
          <p:nvPr/>
        </p:nvSpPr>
        <p:spPr>
          <a:xfrm>
            <a:off x="7242685" y="4859999"/>
            <a:ext cx="180000" cy="251999"/>
          </a:xfrm>
          <a:prstGeom prst="trapezoid">
            <a:avLst/>
          </a:prstGeom>
          <a:solidFill>
            <a:srgbClr val="FF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rapezoid 95"/>
          <p:cNvSpPr/>
          <p:nvPr/>
        </p:nvSpPr>
        <p:spPr>
          <a:xfrm>
            <a:off x="8616856" y="4859999"/>
            <a:ext cx="180000" cy="251999"/>
          </a:xfrm>
          <a:prstGeom prst="trapezoid">
            <a:avLst/>
          </a:prstGeom>
          <a:solidFill>
            <a:srgbClr val="FF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rapezoid 96"/>
          <p:cNvSpPr/>
          <p:nvPr/>
        </p:nvSpPr>
        <p:spPr>
          <a:xfrm>
            <a:off x="9991028" y="4859999"/>
            <a:ext cx="180000" cy="251999"/>
          </a:xfrm>
          <a:prstGeom prst="trapezoid">
            <a:avLst/>
          </a:prstGeom>
          <a:solidFill>
            <a:srgbClr val="FF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rapezoid 97"/>
          <p:cNvSpPr/>
          <p:nvPr/>
        </p:nvSpPr>
        <p:spPr>
          <a:xfrm>
            <a:off x="11365200" y="4859999"/>
            <a:ext cx="180000" cy="251999"/>
          </a:xfrm>
          <a:prstGeom prst="trapezoid">
            <a:avLst/>
          </a:prstGeom>
          <a:solidFill>
            <a:srgbClr val="FF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40000" y="6498000"/>
            <a:ext cx="11113200" cy="14400"/>
          </a:xfrm>
          <a:prstGeom prst="rect">
            <a:avLst/>
          </a:prstGeom>
          <a:solidFill>
            <a:srgbClr val="1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40000" y="6534000"/>
            <a:ext cx="103932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800" b="0" i="0">
                <a:solidFill>
                  <a:srgbClr val="A0B8CC"/>
                </a:solidFill>
                <a:latin typeface="맑은 고딕"/>
              </a:rPr>
              <a:t>하나은행 비정형 데이터 자산화 플랫폼 제안  |  2026.05  |  KT B2B 수주전략팀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933200" y="6534000"/>
            <a:ext cx="7200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r"/>
            <a:r>
              <a:rPr sz="800" b="0" i="0">
                <a:solidFill>
                  <a:srgbClr val="A0B8CC"/>
                </a:solidFill>
                <a:latin typeface="맑은 고딕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2240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0000" cy="1224000"/>
          </a:xfrm>
          <a:prstGeom prst="rect">
            <a:avLst/>
          </a:prstGeom>
          <a:solidFill>
            <a:srgbClr val="E5B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2000" y="162000"/>
            <a:ext cx="3240000" cy="198000"/>
          </a:xfrm>
          <a:prstGeom prst="rect">
            <a:avLst/>
          </a:prstGeom>
          <a:solidFill>
            <a:srgbClr val="E5B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162000"/>
            <a:ext cx="32400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0">
                <a:solidFill>
                  <a:srgbClr val="07101E"/>
                </a:solidFill>
                <a:latin typeface="맑은 고딕"/>
              </a:rPr>
              <a:t>통제 × 운영  ·  HOW WE WIN THE CONTROL WAR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396000"/>
            <a:ext cx="11329200" cy="43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AI는 구축이 아니라 운영에서 무너집니다.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900000"/>
            <a:ext cx="11329200" cy="251999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0">
                <a:solidFill>
                  <a:srgbClr val="CCD6E0"/>
                </a:solidFill>
                <a:latin typeface="맑은 고딕"/>
              </a:rPr>
              <a:t>초기 구축보다 </a:t>
            </a:r>
            <a:r>
              <a:rPr sz="1400" b="1">
                <a:solidFill>
                  <a:srgbClr val="FF6B35"/>
                </a:solidFill>
                <a:latin typeface="맑은 고딕"/>
              </a:rPr>
              <a:t>장기 운영비</a:t>
            </a:r>
            <a:r>
              <a:rPr sz="1400" b="0">
                <a:solidFill>
                  <a:srgbClr val="CCD6E0"/>
                </a:solidFill>
                <a:latin typeface="맑은 고딕"/>
              </a:rPr>
              <a:t>가 무섭다  ─  지속 가능한 </a:t>
            </a:r>
            <a:r>
              <a:rPr sz="1400" b="1">
                <a:solidFill>
                  <a:srgbClr val="00D4FF"/>
                </a:solidFill>
                <a:latin typeface="맑은 고딕"/>
              </a:rPr>
              <a:t>통제 체계</a:t>
            </a:r>
            <a:r>
              <a:rPr sz="1400" b="0">
                <a:solidFill>
                  <a:srgbClr val="CCD6E0"/>
                </a:solidFill>
                <a:latin typeface="맑은 고딕"/>
              </a:rPr>
              <a:t>만이 답이다.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386000"/>
            <a:ext cx="144000" cy="19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000" y="1386000"/>
            <a:ext cx="111132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맑은 고딕"/>
              </a:rPr>
              <a:t>PART 1.  통제 — 출처가 박힌 데이터만 학습하고, 인용 가능한 응답만 전달한다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000" y="1637999"/>
            <a:ext cx="11329200" cy="324000"/>
          </a:xfrm>
          <a:prstGeom prst="rect">
            <a:avLst/>
          </a:prstGeom>
          <a:solidFill>
            <a:srgbClr val="132A4D"/>
          </a:solidFill>
          <a:ln w="6350">
            <a:solidFill>
              <a:srgbClr val="1A4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0" y="1702799"/>
            <a:ext cx="18000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900" b="0" i="1">
                <a:solidFill>
                  <a:srgbClr val="A0B8CC"/>
                </a:solidFill>
                <a:latin typeface="맑은 고딕"/>
              </a:rPr>
              <a:t>▼  Cross-cutting Controls</a:t>
            </a:r>
          </a:p>
        </p:txBody>
      </p:sp>
      <p:sp>
        <p:nvSpPr>
          <p:cNvPr id="12" name="Oval 11"/>
          <p:cNvSpPr/>
          <p:nvPr/>
        </p:nvSpPr>
        <p:spPr>
          <a:xfrm>
            <a:off x="2880000" y="1738799"/>
            <a:ext cx="108000" cy="1080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4000" y="1709999"/>
            <a:ext cx="90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맑은 고딕"/>
              </a:rPr>
              <a:t>출처</a:t>
            </a:r>
          </a:p>
        </p:txBody>
      </p:sp>
      <p:sp>
        <p:nvSpPr>
          <p:cNvPr id="14" name="Oval 13"/>
          <p:cNvSpPr/>
          <p:nvPr/>
        </p:nvSpPr>
        <p:spPr>
          <a:xfrm>
            <a:off x="4032000" y="1738799"/>
            <a:ext cx="108000" cy="108000"/>
          </a:xfrm>
          <a:prstGeom prst="ellipse">
            <a:avLst/>
          </a:prstGeom>
          <a:solidFill>
            <a:srgbClr val="B4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76000" y="1709999"/>
            <a:ext cx="90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B46BFF"/>
                </a:solidFill>
                <a:latin typeface="맑은 고딕"/>
              </a:rPr>
              <a:t>감사</a:t>
            </a:r>
          </a:p>
        </p:txBody>
      </p:sp>
      <p:sp>
        <p:nvSpPr>
          <p:cNvPr id="16" name="Oval 15"/>
          <p:cNvSpPr/>
          <p:nvPr/>
        </p:nvSpPr>
        <p:spPr>
          <a:xfrm>
            <a:off x="5184000" y="1738799"/>
            <a:ext cx="108000" cy="1080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28000" y="1709999"/>
            <a:ext cx="90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맑은 고딕"/>
              </a:rPr>
              <a:t>접근</a:t>
            </a:r>
          </a:p>
        </p:txBody>
      </p:sp>
      <p:sp>
        <p:nvSpPr>
          <p:cNvPr id="18" name="Oval 17"/>
          <p:cNvSpPr/>
          <p:nvPr/>
        </p:nvSpPr>
        <p:spPr>
          <a:xfrm>
            <a:off x="6336000" y="1738799"/>
            <a:ext cx="108000" cy="108000"/>
          </a:xfrm>
          <a:prstGeom prst="ellipse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0000" y="1709999"/>
            <a:ext cx="90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00E096"/>
                </a:solidFill>
                <a:latin typeface="맑은 고딕"/>
              </a:rPr>
              <a:t>품질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000" y="2051999"/>
            <a:ext cx="2778300" cy="1224000"/>
          </a:xfrm>
          <a:prstGeom prst="rect">
            <a:avLst/>
          </a:prstGeom>
          <a:solidFill>
            <a:srgbClr val="0D1F3C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2000" y="2051999"/>
            <a:ext cx="2778300" cy="396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2000" y="2087999"/>
            <a:ext cx="251999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900" b="1" i="0">
                <a:solidFill>
                  <a:srgbClr val="07101E"/>
                </a:solidFill>
                <a:latin typeface="맑은 고딕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000" y="2087999"/>
            <a:ext cx="27783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800" b="1" i="0">
                <a:solidFill>
                  <a:srgbClr val="07101E"/>
                </a:solidFill>
                <a:latin typeface="맑은 고딕"/>
              </a:rPr>
              <a:t>수집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000" y="2303998"/>
            <a:ext cx="27783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07101E"/>
                </a:solidFill>
                <a:latin typeface="맑은 고딕"/>
              </a:rPr>
              <a:t>Ingest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00" y="2519999"/>
            <a:ext cx="2562300" cy="32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맑은 고딕"/>
              </a:rPr>
              <a:t>원천 → 출처 태그 부착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0" y="2987999"/>
            <a:ext cx="2562300" cy="180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0000" y="2987999"/>
            <a:ext cx="25623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1">
                <a:solidFill>
                  <a:srgbClr val="07101E"/>
                </a:solidFill>
                <a:latin typeface="맑은 고딕"/>
              </a:rPr>
              <a:t>→ raw + meta</a:t>
            </a:r>
          </a:p>
        </p:txBody>
      </p:sp>
      <p:sp>
        <p:nvSpPr>
          <p:cNvPr id="28" name="Chevron 27"/>
          <p:cNvSpPr/>
          <p:nvPr/>
        </p:nvSpPr>
        <p:spPr>
          <a:xfrm>
            <a:off x="3210300" y="2555999"/>
            <a:ext cx="72000" cy="251999"/>
          </a:xfrm>
          <a:prstGeom prst="chevron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82300" y="2051999"/>
            <a:ext cx="2778300" cy="1224000"/>
          </a:xfrm>
          <a:prstGeom prst="rect">
            <a:avLst/>
          </a:prstGeom>
          <a:solidFill>
            <a:srgbClr val="0D1F3C"/>
          </a:solidFill>
          <a:ln w="12700">
            <a:solidFill>
              <a:srgbClr val="B4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82300" y="2051999"/>
            <a:ext cx="2778300" cy="396000"/>
          </a:xfrm>
          <a:prstGeom prst="rect">
            <a:avLst/>
          </a:prstGeom>
          <a:solidFill>
            <a:srgbClr val="B4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72300" y="2087999"/>
            <a:ext cx="251999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900" b="1" i="0">
                <a:solidFill>
                  <a:srgbClr val="07101E"/>
                </a:solidFill>
                <a:latin typeface="맑은 고딕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82300" y="2087999"/>
            <a:ext cx="27783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800" b="1" i="0">
                <a:solidFill>
                  <a:srgbClr val="07101E"/>
                </a:solidFill>
                <a:latin typeface="맑은 고딕"/>
              </a:rPr>
              <a:t>저장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82300" y="2303998"/>
            <a:ext cx="27783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07101E"/>
                </a:solidFill>
                <a:latin typeface="맑은 고딕"/>
              </a:rPr>
              <a:t>Govern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90300" y="2519999"/>
            <a:ext cx="2562300" cy="32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1" i="0">
                <a:solidFill>
                  <a:srgbClr val="B46BFF"/>
                </a:solidFill>
                <a:latin typeface="맑은 고딕"/>
              </a:rPr>
              <a:t>출처 보존 + 접근 통제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90300" y="2987999"/>
            <a:ext cx="2562300" cy="180000"/>
          </a:xfrm>
          <a:prstGeom prst="rect">
            <a:avLst/>
          </a:prstGeom>
          <a:solidFill>
            <a:srgbClr val="B4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90300" y="2987999"/>
            <a:ext cx="25623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1">
                <a:solidFill>
                  <a:srgbClr val="07101E"/>
                </a:solidFill>
                <a:latin typeface="맑은 고딕"/>
              </a:rPr>
              <a:t>→ stored + audit</a:t>
            </a:r>
          </a:p>
        </p:txBody>
      </p:sp>
      <p:sp>
        <p:nvSpPr>
          <p:cNvPr id="37" name="Chevron 36"/>
          <p:cNvSpPr/>
          <p:nvPr/>
        </p:nvSpPr>
        <p:spPr>
          <a:xfrm>
            <a:off x="6060600" y="2555999"/>
            <a:ext cx="72000" cy="251999"/>
          </a:xfrm>
          <a:prstGeom prst="chevron">
            <a:avLst/>
          </a:prstGeom>
          <a:solidFill>
            <a:srgbClr val="B4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32600" y="2051999"/>
            <a:ext cx="2778300" cy="1224000"/>
          </a:xfrm>
          <a:prstGeom prst="rect">
            <a:avLst/>
          </a:prstGeom>
          <a:solidFill>
            <a:srgbClr val="0D1F3C"/>
          </a:solidFill>
          <a:ln w="1270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32600" y="2051999"/>
            <a:ext cx="2778300" cy="396000"/>
          </a:xfrm>
          <a:prstGeom prst="rect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22600" y="2087999"/>
            <a:ext cx="251999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900" b="1" i="0">
                <a:solidFill>
                  <a:srgbClr val="07101E"/>
                </a:solidFill>
                <a:latin typeface="맑은 고딕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32600" y="2087999"/>
            <a:ext cx="27783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800" b="1" i="0">
                <a:solidFill>
                  <a:srgbClr val="07101E"/>
                </a:solidFill>
                <a:latin typeface="맑은 고딕"/>
              </a:rPr>
              <a:t>가공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32600" y="2303998"/>
            <a:ext cx="27783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07101E"/>
                </a:solidFill>
                <a:latin typeface="맑은 고딕"/>
              </a:rPr>
              <a:t>Process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40600" y="2519999"/>
            <a:ext cx="2562300" cy="32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1" i="0">
                <a:solidFill>
                  <a:srgbClr val="00E096"/>
                </a:solidFill>
                <a:latin typeface="맑은 고딕"/>
              </a:rPr>
              <a:t>AI Ready化 + 정합성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40600" y="2987999"/>
            <a:ext cx="2562300" cy="180000"/>
          </a:xfrm>
          <a:prstGeom prst="rect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40600" y="2987999"/>
            <a:ext cx="25623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1">
                <a:solidFill>
                  <a:srgbClr val="07101E"/>
                </a:solidFill>
                <a:latin typeface="맑은 고딕"/>
              </a:rPr>
              <a:t>→ ai-ready</a:t>
            </a:r>
          </a:p>
        </p:txBody>
      </p:sp>
      <p:sp>
        <p:nvSpPr>
          <p:cNvPr id="46" name="Chevron 45"/>
          <p:cNvSpPr/>
          <p:nvPr/>
        </p:nvSpPr>
        <p:spPr>
          <a:xfrm>
            <a:off x="8910900" y="2555999"/>
            <a:ext cx="72000" cy="251999"/>
          </a:xfrm>
          <a:prstGeom prst="chevron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982900" y="2051999"/>
            <a:ext cx="2778300" cy="1224000"/>
          </a:xfrm>
          <a:prstGeom prst="rect">
            <a:avLst/>
          </a:prstGeom>
          <a:solidFill>
            <a:srgbClr val="0D1F3C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82900" y="2051999"/>
            <a:ext cx="2778300" cy="396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72900" y="2087999"/>
            <a:ext cx="251999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900" b="1" i="0">
                <a:solidFill>
                  <a:srgbClr val="07101E"/>
                </a:solidFill>
                <a:latin typeface="맑은 고딕"/>
              </a:rPr>
              <a:t>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82900" y="2087999"/>
            <a:ext cx="27783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800" b="1" i="0">
                <a:solidFill>
                  <a:srgbClr val="07101E"/>
                </a:solidFill>
                <a:latin typeface="맑은 고딕"/>
              </a:rPr>
              <a:t>활용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82900" y="2303998"/>
            <a:ext cx="27783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07101E"/>
                </a:solidFill>
                <a:latin typeface="맑은 고딕"/>
              </a:rPr>
              <a:t>Serve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90900" y="2519999"/>
            <a:ext cx="2562300" cy="32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맑은 고딕"/>
              </a:rPr>
              <a:t>출처 인용 + 응답 검증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90900" y="2987999"/>
            <a:ext cx="2562300" cy="180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90900" y="2987999"/>
            <a:ext cx="25623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1">
                <a:solidFill>
                  <a:srgbClr val="07101E"/>
                </a:solidFill>
                <a:latin typeface="맑은 고딕"/>
              </a:rPr>
              <a:t>→ served + cited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000" y="3455999"/>
            <a:ext cx="144000" cy="19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8000" y="3455999"/>
            <a:ext cx="111132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맑은 고딕"/>
              </a:rPr>
              <a:t>PART 2.  운영 — 구축의 5배는 운영에서 나간다. 우리는 그 5배를 줄인다.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2000" y="3707998"/>
            <a:ext cx="3704400" cy="1296000"/>
          </a:xfrm>
          <a:prstGeom prst="rect">
            <a:avLst/>
          </a:prstGeom>
          <a:solidFill>
            <a:srgbClr val="0D1F3C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32000" y="3707998"/>
            <a:ext cx="64800" cy="1296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76000" y="3797998"/>
            <a:ext cx="540000" cy="21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맑은 고딕"/>
              </a:rPr>
              <a:t>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6000" y="3959997"/>
            <a:ext cx="3452401" cy="28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OpenSearch 기반 자산화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6000" y="4247998"/>
            <a:ext cx="3452401" cy="36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맑은 고딕"/>
              </a:rPr>
              <a:t>Elastic 상용 라이선스 락인 제거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0000" y="4499999"/>
            <a:ext cx="3488400" cy="413999"/>
          </a:xfrm>
          <a:prstGeom prst="rect">
            <a:avLst/>
          </a:prstGeom>
          <a:solidFill>
            <a:srgbClr val="18335A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0000" y="4517999"/>
            <a:ext cx="34884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2200" b="1" i="0">
                <a:solidFill>
                  <a:srgbClr val="00D4FF"/>
                </a:solidFill>
                <a:latin typeface="맑은 고딕"/>
              </a:rPr>
              <a:t>−40%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0000" y="4751998"/>
            <a:ext cx="34884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0">
                <a:solidFill>
                  <a:srgbClr val="CCD6E0"/>
                </a:solidFill>
                <a:latin typeface="맑은 고딕"/>
              </a:rPr>
              <a:t>라이선스 비용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44400" y="3707998"/>
            <a:ext cx="3704400" cy="1296000"/>
          </a:xfrm>
          <a:prstGeom prst="rect">
            <a:avLst/>
          </a:prstGeom>
          <a:solidFill>
            <a:srgbClr val="0D1F3C"/>
          </a:solidFill>
          <a:ln w="1270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244400" y="3707998"/>
            <a:ext cx="64800" cy="1296000"/>
          </a:xfrm>
          <a:prstGeom prst="rect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88400" y="3797998"/>
            <a:ext cx="540000" cy="21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00E096"/>
                </a:solidFill>
                <a:latin typeface="맑은 고딕"/>
              </a:rPr>
              <a:t>02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88400" y="3959997"/>
            <a:ext cx="3452401" cy="28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Hot · Warm · Cold 티어링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88400" y="4247998"/>
            <a:ext cx="3452401" cy="36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맑은 고딕"/>
              </a:rPr>
              <a:t>조회 빈도 기반 자동 이관 — 5년 TCO 압축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52400" y="4499999"/>
            <a:ext cx="3488400" cy="413999"/>
          </a:xfrm>
          <a:prstGeom prst="rect">
            <a:avLst/>
          </a:prstGeom>
          <a:solidFill>
            <a:srgbClr val="18335A"/>
          </a:solidFill>
          <a:ln w="635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352400" y="4517999"/>
            <a:ext cx="34884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2200" b="1" i="0">
                <a:solidFill>
                  <a:srgbClr val="00E096"/>
                </a:solidFill>
                <a:latin typeface="맑은 고딕"/>
              </a:rPr>
              <a:t>−60%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52400" y="4751998"/>
            <a:ext cx="34884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0">
                <a:solidFill>
                  <a:srgbClr val="CCD6E0"/>
                </a:solidFill>
                <a:latin typeface="맑은 고딕"/>
              </a:rPr>
              <a:t>스토리지 TCO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056800" y="3707998"/>
            <a:ext cx="3704400" cy="1296000"/>
          </a:xfrm>
          <a:prstGeom prst="rect">
            <a:avLst/>
          </a:prstGeom>
          <a:solidFill>
            <a:srgbClr val="0D1F3C"/>
          </a:solidFill>
          <a:ln w="12700">
            <a:solidFill>
              <a:srgbClr val="E5B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056800" y="3707998"/>
            <a:ext cx="64800" cy="1296000"/>
          </a:xfrm>
          <a:prstGeom prst="rect">
            <a:avLst/>
          </a:prstGeom>
          <a:solidFill>
            <a:srgbClr val="E5B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00800" y="3797998"/>
            <a:ext cx="540000" cy="21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E5B22D"/>
                </a:solidFill>
                <a:latin typeface="맑은 고딕"/>
              </a:rPr>
              <a:t>03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00800" y="3959997"/>
            <a:ext cx="3452401" cy="28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KT Cloud + 자체 모델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00800" y="4247998"/>
            <a:ext cx="3452401" cy="36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맑은 고딕"/>
              </a:rPr>
              <a:t>외부 토큰 비용 의존 제거 — 운영 예측 가능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164800" y="4499999"/>
            <a:ext cx="3488400" cy="413999"/>
          </a:xfrm>
          <a:prstGeom prst="rect">
            <a:avLst/>
          </a:prstGeom>
          <a:solidFill>
            <a:srgbClr val="18335A"/>
          </a:solidFill>
          <a:ln w="6350">
            <a:solidFill>
              <a:srgbClr val="E5B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64800" y="4517999"/>
            <a:ext cx="34884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2200" b="1" i="0">
                <a:solidFill>
                  <a:srgbClr val="E5B22D"/>
                </a:solidFill>
                <a:latin typeface="맑은 고딕"/>
              </a:rPr>
              <a:t>3:7 → 7:3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64800" y="4751998"/>
            <a:ext cx="34884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0">
                <a:solidFill>
                  <a:srgbClr val="CCD6E0"/>
                </a:solidFill>
                <a:latin typeface="맑은 고딕"/>
              </a:rPr>
              <a:t>구축 : 운영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2000" y="5147998"/>
            <a:ext cx="11329200" cy="558000"/>
          </a:xfrm>
          <a:prstGeom prst="rect">
            <a:avLst/>
          </a:prstGeom>
          <a:solidFill>
            <a:srgbClr val="E5B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40000" y="5201998"/>
            <a:ext cx="11113200" cy="32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2200" b="1" i="0">
                <a:solidFill>
                  <a:srgbClr val="07101E"/>
                </a:solidFill>
                <a:latin typeface="맑은 고딕"/>
              </a:rPr>
              <a:t>통제 + 지속성 = 진짜 AI 운영 체계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0000" y="5489998"/>
            <a:ext cx="111132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0" i="0">
                <a:solidFill>
                  <a:srgbClr val="07101E"/>
                </a:solidFill>
                <a:latin typeface="맑은 고딕"/>
              </a:rPr>
              <a:t>AI 도입이 아니라, 지속 가능한 AI 운영 체계를 짓습니다  ─  하나은행이 요구한 것은 바로 그것입니다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40000" y="6498000"/>
            <a:ext cx="11113200" cy="14400"/>
          </a:xfrm>
          <a:prstGeom prst="rect">
            <a:avLst/>
          </a:prstGeom>
          <a:solidFill>
            <a:srgbClr val="1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40000" y="6534000"/>
            <a:ext cx="103932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800" b="0" i="0">
                <a:solidFill>
                  <a:srgbClr val="A0B8CC"/>
                </a:solidFill>
                <a:latin typeface="맑은 고딕"/>
              </a:rPr>
              <a:t>하나은행 비정형 데이터 자산화 플랫폼 제안  |  2026.05  |  KT B2B 수주전략팀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933200" y="6534000"/>
            <a:ext cx="7200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r"/>
            <a:r>
              <a:rPr sz="800" b="0" i="0">
                <a:solidFill>
                  <a:srgbClr val="A0B8CC"/>
                </a:solidFill>
                <a:latin typeface="맑은 고딕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9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2898" y="102870"/>
            <a:ext cx="11827404" cy="6652260"/>
          </a:xfrm>
          <a:prstGeom prst="ellipse">
            <a:avLst/>
          </a:prstGeom>
          <a:solidFill>
            <a:srgbClr val="060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388" y="617220"/>
            <a:ext cx="9998424" cy="5623560"/>
          </a:xfrm>
          <a:prstGeom prst="ellipse">
            <a:avLst/>
          </a:prstGeom>
          <a:solidFill>
            <a:srgbClr val="08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011877" y="1131570"/>
            <a:ext cx="8169444" cy="4594860"/>
          </a:xfrm>
          <a:prstGeom prst="ellipse">
            <a:avLst/>
          </a:prstGeom>
          <a:solidFill>
            <a:srgbClr val="0B1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26368" y="1645920"/>
            <a:ext cx="6340464" cy="3566160"/>
          </a:xfrm>
          <a:prstGeom prst="ellipse">
            <a:avLst/>
          </a:prstGeom>
          <a:solidFill>
            <a:srgbClr val="0E1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779892" y="2125980"/>
            <a:ext cx="4633416" cy="2606040"/>
          </a:xfrm>
          <a:prstGeom prst="ellipse">
            <a:avLst/>
          </a:prstGeom>
          <a:solidFill>
            <a:srgbClr val="12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511484" y="2537460"/>
            <a:ext cx="3170232" cy="1783080"/>
          </a:xfrm>
          <a:prstGeom prst="ellipse">
            <a:avLst/>
          </a:prstGeom>
          <a:solidFill>
            <a:srgbClr val="163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182110" y="2914650"/>
            <a:ext cx="1828980" cy="1028700"/>
          </a:xfrm>
          <a:prstGeom prst="ellipse">
            <a:avLst/>
          </a:prstGeom>
          <a:solidFill>
            <a:srgbClr val="1A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07048" y="960120"/>
            <a:ext cx="8779104" cy="4937760"/>
          </a:xfrm>
          <a:prstGeom prst="ellipse">
            <a:avLst/>
          </a:prstGeom>
          <a:noFill/>
          <a:ln w="5080">
            <a:solidFill>
              <a:srgbClr val="3024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926368" y="1645920"/>
            <a:ext cx="6340464" cy="3566160"/>
          </a:xfrm>
          <a:prstGeom prst="ellipse">
            <a:avLst/>
          </a:prstGeom>
          <a:noFill/>
          <a:ln w="7620">
            <a:solidFill>
              <a:srgbClr val="E5B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45688" y="2331720"/>
            <a:ext cx="3901824" cy="2194560"/>
          </a:xfrm>
          <a:prstGeom prst="ellipse">
            <a:avLst/>
          </a:prstGeom>
          <a:noFill/>
          <a:ln w="3810">
            <a:solidFill>
              <a:srgbClr val="006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76600" y="1881000"/>
            <a:ext cx="5040000" cy="2520000"/>
          </a:xfrm>
          <a:prstGeom prst="ellipse">
            <a:avLst/>
          </a:prstGeom>
          <a:solidFill>
            <a:srgbClr val="1C1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1764000"/>
            <a:ext cx="121932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0">
                <a:solidFill>
                  <a:srgbClr val="283E5C"/>
                </a:solidFill>
                <a:latin typeface="맑은 고딕"/>
              </a:rPr>
              <a:t>HANA BANK  ×  AI FOUNDATION  ×  KT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2034000"/>
            <a:ext cx="12193200" cy="46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맑은 고딕"/>
              </a:rPr>
              <a:t>통제 가능한 AI 위에서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2556000"/>
            <a:ext cx="12193200" cy="61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4000" b="1" i="0">
                <a:solidFill>
                  <a:srgbClr val="E5B22D"/>
                </a:solidFill>
                <a:latin typeface="맑은 고딕"/>
              </a:rPr>
              <a:t>하나은행의 모든 판단이 움직인다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6600" y="3276000"/>
            <a:ext cx="1800000" cy="9000"/>
          </a:xfrm>
          <a:prstGeom prst="rect">
            <a:avLst/>
          </a:prstGeom>
          <a:solidFill>
            <a:srgbClr val="E5B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95800" y="3247200"/>
            <a:ext cx="64800" cy="64800"/>
          </a:xfrm>
          <a:prstGeom prst="ellipse">
            <a:avLst/>
          </a:prstGeom>
          <a:solidFill>
            <a:srgbClr val="E5B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32600" y="3247200"/>
            <a:ext cx="64800" cy="64800"/>
          </a:xfrm>
          <a:prstGeom prst="ellipse">
            <a:avLst/>
          </a:prstGeom>
          <a:solidFill>
            <a:srgbClr val="E5B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951200" y="3474000"/>
            <a:ext cx="162000" cy="1620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0" y="3690000"/>
            <a:ext cx="40644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500" b="0" i="0">
                <a:solidFill>
                  <a:srgbClr val="CCD6E0"/>
                </a:solidFill>
                <a:latin typeface="맑은 고딕"/>
              </a:rPr>
              <a:t>고객 경험은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3906000"/>
            <a:ext cx="40644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500" b="1" i="0">
                <a:solidFill>
                  <a:srgbClr val="00D4FF"/>
                </a:solidFill>
                <a:latin typeface="맑은 고딕"/>
              </a:rPr>
              <a:t>더 빨라지고</a:t>
            </a:r>
          </a:p>
        </p:txBody>
      </p:sp>
      <p:sp>
        <p:nvSpPr>
          <p:cNvPr id="22" name="Oval 21"/>
          <p:cNvSpPr/>
          <p:nvPr/>
        </p:nvSpPr>
        <p:spPr>
          <a:xfrm>
            <a:off x="6015600" y="3474000"/>
            <a:ext cx="162000" cy="1620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64400" y="3690000"/>
            <a:ext cx="40644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500" b="0" i="0">
                <a:solidFill>
                  <a:srgbClr val="CCD6E0"/>
                </a:solidFill>
                <a:latin typeface="맑은 고딕"/>
              </a:rPr>
              <a:t>직원 업무는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4400" y="3906000"/>
            <a:ext cx="40644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500" b="1" i="0">
                <a:solidFill>
                  <a:srgbClr val="FFD700"/>
                </a:solidFill>
                <a:latin typeface="맑은 고딕"/>
              </a:rPr>
              <a:t>더 효율화되며</a:t>
            </a:r>
          </a:p>
        </p:txBody>
      </p:sp>
      <p:sp>
        <p:nvSpPr>
          <p:cNvPr id="25" name="Oval 24"/>
          <p:cNvSpPr/>
          <p:nvPr/>
        </p:nvSpPr>
        <p:spPr>
          <a:xfrm>
            <a:off x="10080000" y="3474000"/>
            <a:ext cx="162000" cy="1620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800" y="3690000"/>
            <a:ext cx="40644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500" b="0" i="0">
                <a:solidFill>
                  <a:srgbClr val="CCD6E0"/>
                </a:solidFill>
                <a:latin typeface="맑은 고딕"/>
              </a:rPr>
              <a:t>리스크는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800" y="3906000"/>
            <a:ext cx="40644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500" b="1" i="0">
                <a:solidFill>
                  <a:srgbClr val="FF6B35"/>
                </a:solidFill>
                <a:latin typeface="맑은 고딕"/>
              </a:rPr>
              <a:t>더 정교하게 통제된다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40000" y="4140000"/>
            <a:ext cx="9313200" cy="7200"/>
          </a:xfrm>
          <a:prstGeom prst="rect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4464000"/>
            <a:ext cx="12193200" cy="900000"/>
          </a:xfrm>
          <a:prstGeom prst="rect">
            <a:avLst/>
          </a:prstGeom>
          <a:solidFill>
            <a:srgbClr val="06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0000" y="4626000"/>
            <a:ext cx="5556600" cy="34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r"/>
            <a:r>
              <a:rPr sz="2000" b="0" i="0">
                <a:solidFill>
                  <a:srgbClr val="A0B8CC"/>
                </a:solidFill>
                <a:latin typeface="맑은 고딕"/>
              </a:rPr>
              <a:t>AI를 도입하는 은행에서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36600" y="4626000"/>
            <a:ext cx="720000" cy="34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2400" b="1" i="0">
                <a:solidFill>
                  <a:srgbClr val="E5B22D"/>
                </a:solidFill>
                <a:latin typeface="맑은 고딕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8599" y="4626000"/>
            <a:ext cx="5484600" cy="34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맑은 고딕"/>
              </a:rPr>
              <a:t>AI를 운영하는 은행으로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0" y="6534000"/>
            <a:ext cx="121932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0">
                <a:solidFill>
                  <a:srgbClr val="20324A"/>
                </a:solidFill>
                <a:latin typeface="맑은 고딕"/>
              </a:rPr>
              <a:t>KT B2B 수주전략팀  ·  2026.05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