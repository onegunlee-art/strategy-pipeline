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24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1224000"/>
          </a:xfrm>
          <a:prstGeom prst="rect">
            <a:avLst/>
          </a:prstGeom>
          <a:solidFill>
            <a:srgbClr val="E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2880000" cy="198000"/>
          </a:xfrm>
          <a:prstGeom prst="rect">
            <a:avLst/>
          </a:prstGeom>
          <a:solidFill>
            <a:srgbClr val="E314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62000"/>
            <a:ext cx="28800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AI 시대 금융의 통제권 전쟁  ·  WHY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396000"/>
            <a:ext cx="11329200" cy="43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AI는 이미 충분히 똑똑해졌습니다. 이제 경쟁력은 통제력입니다.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900000"/>
            <a:ext cx="113292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맑은 고딕"/>
              </a:rPr>
              <a:t>은행은 </a:t>
            </a:r>
            <a:r>
              <a:rPr sz="1400" b="1">
                <a:solidFill>
                  <a:srgbClr val="A0B8CC"/>
                </a:solidFill>
                <a:latin typeface="맑은 고딕"/>
              </a:rPr>
              <a:t>답변하는 조직</a:t>
            </a:r>
            <a:r>
              <a:rPr sz="1400" b="0">
                <a:solidFill>
                  <a:srgbClr val="CCD6E0"/>
                </a:solidFill>
                <a:latin typeface="맑은 고딕"/>
              </a:rPr>
              <a:t>이 아니라  ─  </a:t>
            </a:r>
            <a:r>
              <a:rPr sz="1400" b="1">
                <a:solidFill>
                  <a:srgbClr val="E5B22D"/>
                </a:solidFill>
                <a:latin typeface="맑은 고딕"/>
              </a:rPr>
              <a:t>책임지는 조직</a:t>
            </a:r>
            <a:r>
              <a:rPr sz="1400" b="0">
                <a:solidFill>
                  <a:srgbClr val="CCD6E0"/>
                </a:solidFill>
                <a:latin typeface="맑은 고딕"/>
              </a:rPr>
              <a:t>입니다.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386000"/>
            <a:ext cx="5556600" cy="4031999"/>
          </a:xfrm>
          <a:prstGeom prst="rect">
            <a:avLst/>
          </a:prstGeom>
          <a:solidFill>
            <a:srgbClr val="0D1F3C"/>
          </a:solidFill>
          <a:ln w="12700">
            <a:solidFill>
              <a:srgbClr val="FF4D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2000" y="1386000"/>
            <a:ext cx="64800" cy="4031999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8000" y="1566000"/>
            <a:ext cx="1007999" cy="198000"/>
          </a:xfrm>
          <a:prstGeom prst="rect">
            <a:avLst/>
          </a:prstGeom>
          <a:solidFill>
            <a:srgbClr val="FF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1566000"/>
            <a:ext cx="1007999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맑은 고딕"/>
              </a:rPr>
              <a:t>AI ORGANIZATIONAL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1799999"/>
            <a:ext cx="5124600" cy="28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은행이 직면한 진짜 공포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2088000"/>
            <a:ext cx="51246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0" i="1">
                <a:solidFill>
                  <a:srgbClr val="FF4D4D"/>
                </a:solidFill>
                <a:latin typeface="맑은 고딕"/>
              </a:rPr>
              <a:t>기술 문제가 아닙니다. 은행의 의사결정 구조가 흔들리는 문제입니다.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8000" y="2376000"/>
            <a:ext cx="5124600" cy="666000"/>
          </a:xfrm>
          <a:prstGeom prst="rect">
            <a:avLst/>
          </a:prstGeom>
          <a:solidFill>
            <a:srgbClr val="132A4D"/>
          </a:solidFill>
          <a:ln w="6350">
            <a:solidFill>
              <a:srgbClr val="B8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0000" y="2484000"/>
            <a:ext cx="396000" cy="251999"/>
          </a:xfrm>
          <a:prstGeom prst="rect">
            <a:avLst/>
          </a:prstGeom>
          <a:solidFill>
            <a:srgbClr val="B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000" y="2484000"/>
            <a:ext cx="3960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Q1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000" y="2466000"/>
            <a:ext cx="4548601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AI가 잘못 판단하면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000" y="2718000"/>
            <a:ext cx="4548601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  <a:latin typeface="맑은 고딕"/>
              </a:rPr>
              <a:t>— 누가 책임지는가?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8000" y="3096000"/>
            <a:ext cx="5124600" cy="666000"/>
          </a:xfrm>
          <a:prstGeom prst="rect">
            <a:avLst/>
          </a:prstGeom>
          <a:solidFill>
            <a:srgbClr val="132A4D"/>
          </a:solidFill>
          <a:ln w="6350">
            <a:solidFill>
              <a:srgbClr val="B8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0000" y="3204000"/>
            <a:ext cx="396000" cy="251999"/>
          </a:xfrm>
          <a:prstGeom prst="rect">
            <a:avLst/>
          </a:prstGeom>
          <a:solidFill>
            <a:srgbClr val="B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0000" y="3204000"/>
            <a:ext cx="3960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Q2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000" y="3186000"/>
            <a:ext cx="4548601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직원이 AI만 믿기 시작하면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000" y="3438000"/>
            <a:ext cx="4548601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  <a:latin typeface="맑은 고딕"/>
              </a:rPr>
              <a:t>— 조직의 판단력은 어디로?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8000" y="3816000"/>
            <a:ext cx="5124600" cy="666000"/>
          </a:xfrm>
          <a:prstGeom prst="rect">
            <a:avLst/>
          </a:prstGeom>
          <a:solidFill>
            <a:srgbClr val="132A4D"/>
          </a:solidFill>
          <a:ln w="6350">
            <a:solidFill>
              <a:srgbClr val="B8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0000" y="3924000"/>
            <a:ext cx="396000" cy="251999"/>
          </a:xfrm>
          <a:prstGeom prst="rect">
            <a:avLst/>
          </a:prstGeom>
          <a:solidFill>
            <a:srgbClr val="B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0000" y="3924000"/>
            <a:ext cx="3960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Q3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000" y="3906000"/>
            <a:ext cx="4548601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최신 규정과 충돌하는 답변이 나가면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000" y="4158000"/>
            <a:ext cx="4548601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  <a:latin typeface="맑은 고딕"/>
              </a:rPr>
              <a:t>— 어떻게 막는가?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8000" y="4536000"/>
            <a:ext cx="5124600" cy="666000"/>
          </a:xfrm>
          <a:prstGeom prst="rect">
            <a:avLst/>
          </a:prstGeom>
          <a:solidFill>
            <a:srgbClr val="132A4D"/>
          </a:solidFill>
          <a:ln w="6350">
            <a:solidFill>
              <a:srgbClr val="B8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0000" y="4644000"/>
            <a:ext cx="396000" cy="251999"/>
          </a:xfrm>
          <a:prstGeom prst="rect">
            <a:avLst/>
          </a:prstGeom>
          <a:solidFill>
            <a:srgbClr val="B8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000" y="4644000"/>
            <a:ext cx="3960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Q4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000" y="4626000"/>
            <a:ext cx="4548601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감사 시점에 재현이 불가능하면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000" y="4878000"/>
            <a:ext cx="4548601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FF4D4D"/>
                </a:solidFill>
                <a:latin typeface="맑은 고딕"/>
              </a:rPr>
              <a:t>— 통제는 존재했다고 할 수 있는가?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04600" y="1386000"/>
            <a:ext cx="5556600" cy="4031999"/>
          </a:xfrm>
          <a:prstGeom prst="rect">
            <a:avLst/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4600" y="1386000"/>
            <a:ext cx="64800" cy="4031999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20600" y="1566000"/>
            <a:ext cx="1007999" cy="19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20600" y="1566000"/>
            <a:ext cx="1007999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000" b="1" i="0">
                <a:solidFill>
                  <a:srgbClr val="07101E"/>
                </a:solidFill>
                <a:latin typeface="맑은 고딕"/>
              </a:rPr>
              <a:t>WHY KT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20600" y="1799999"/>
            <a:ext cx="5124600" cy="28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맑은 고딕"/>
              </a:rPr>
              <a:t>통제권 전쟁의 답 — KT의 정체성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20600" y="2106000"/>
            <a:ext cx="5124600" cy="792000"/>
          </a:xfrm>
          <a:prstGeom prst="rect">
            <a:avLst/>
          </a:prstGeom>
          <a:solidFill>
            <a:srgbClr val="18335A"/>
          </a:solidFill>
          <a:ln w="9525">
            <a:solidFill>
              <a:srgbClr val="E5B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20600" y="2106000"/>
            <a:ext cx="28800" cy="792000"/>
          </a:xfrm>
          <a:prstGeom prst="rect">
            <a:avLst/>
          </a:prstGeom>
          <a:solidFill>
            <a:srgbClr val="E5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600" y="2214000"/>
            <a:ext cx="49086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400" b="0" i="1">
                <a:solidFill>
                  <a:srgbClr val="CCD6E0"/>
                </a:solidFill>
                <a:latin typeface="맑은 고딕"/>
              </a:rPr>
              <a:t>KT는 AI를 화려하게 만드는 회사가 아닙니다.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8600" y="2466000"/>
            <a:ext cx="4908600" cy="32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800" b="1" i="0">
                <a:solidFill>
                  <a:srgbClr val="E5B22D"/>
                </a:solidFill>
                <a:latin typeface="맑은 고딕"/>
              </a:rPr>
              <a:t>멈추면 안 되는 시스템을 운영해온 회사입니다.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20600" y="3006000"/>
            <a:ext cx="2526300" cy="1133999"/>
          </a:xfrm>
          <a:prstGeom prst="rect">
            <a:avLst/>
          </a:prstGeom>
          <a:solidFill>
            <a:srgbClr val="132A4D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28600" y="3114000"/>
            <a:ext cx="144000" cy="1440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28600" y="3114000"/>
            <a:ext cx="144000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1" i="0">
                <a:solidFill>
                  <a:srgbClr val="07101E"/>
                </a:solidFill>
                <a:latin typeface="맑은 고딕"/>
              </a:rPr>
              <a:t>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26600" y="3096000"/>
            <a:ext cx="2166300" cy="21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맑은 고딕"/>
              </a:rPr>
              <a:t>국가 인프라 DNA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46599" y="3348000"/>
            <a:ext cx="23463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통신망 24×365 운영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46599" y="3546000"/>
            <a:ext cx="23463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000" b="0" i="1">
                <a:solidFill>
                  <a:srgbClr val="E5B22D"/>
                </a:solidFill>
                <a:latin typeface="맑은 고딕"/>
              </a:rPr>
              <a:t>▸  장애 = 국가 단위 영향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8900" y="3006000"/>
            <a:ext cx="2526300" cy="1133999"/>
          </a:xfrm>
          <a:prstGeom prst="rect">
            <a:avLst/>
          </a:prstGeom>
          <a:solidFill>
            <a:srgbClr val="132A4D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126900" y="3114000"/>
            <a:ext cx="144000" cy="1440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126900" y="3114000"/>
            <a:ext cx="144000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1" i="0">
                <a:solidFill>
                  <a:srgbClr val="07101E"/>
                </a:solidFill>
                <a:latin typeface="맑은 고딕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4900" y="3096000"/>
            <a:ext cx="2166300" cy="21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맑은 고딕"/>
              </a:rPr>
              <a:t>미션 크리티컬 관제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44899" y="3348000"/>
            <a:ext cx="23463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관제 · 장애 대응 · 이중화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899" y="3546000"/>
            <a:ext cx="23463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000" b="0" i="1">
                <a:solidFill>
                  <a:srgbClr val="E5B22D"/>
                </a:solidFill>
                <a:latin typeface="맑은 고딕"/>
              </a:rPr>
              <a:t>▸  멈춤이 허용되지 않는 운영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20600" y="4193999"/>
            <a:ext cx="2526300" cy="1133999"/>
          </a:xfrm>
          <a:prstGeom prst="rect">
            <a:avLst/>
          </a:prstGeom>
          <a:solidFill>
            <a:srgbClr val="132A4D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528600" y="4301999"/>
            <a:ext cx="144000" cy="1440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28600" y="4301999"/>
            <a:ext cx="144000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1" i="0">
                <a:solidFill>
                  <a:srgbClr val="07101E"/>
                </a:solidFill>
                <a:latin typeface="맑은 고딕"/>
              </a:rPr>
              <a:t>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26600" y="4283999"/>
            <a:ext cx="2166300" cy="21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맑은 고딕"/>
              </a:rPr>
              <a:t>금융 IT 실적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46599" y="4535999"/>
            <a:ext cx="23463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전 시중은행급 인프라 운영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46599" y="4733999"/>
            <a:ext cx="23463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000" b="0" i="1">
                <a:solidFill>
                  <a:srgbClr val="E5B22D"/>
                </a:solidFill>
                <a:latin typeface="맑은 고딕"/>
              </a:rPr>
              <a:t>▸  규제 · 감사 대응 경험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18900" y="4193999"/>
            <a:ext cx="2526300" cy="1133999"/>
          </a:xfrm>
          <a:prstGeom prst="rect">
            <a:avLst/>
          </a:prstGeom>
          <a:solidFill>
            <a:srgbClr val="132A4D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9126900" y="4301999"/>
            <a:ext cx="144000" cy="1440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26900" y="4301999"/>
            <a:ext cx="144000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1" i="0">
                <a:solidFill>
                  <a:srgbClr val="07101E"/>
                </a:solidFill>
                <a:latin typeface="맑은 고딕"/>
              </a:rPr>
              <a:t>4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4900" y="4283999"/>
            <a:ext cx="2166300" cy="21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300" b="1" i="0">
                <a:solidFill>
                  <a:srgbClr val="00D4FF"/>
                </a:solidFill>
                <a:latin typeface="맑은 고딕"/>
              </a:rPr>
              <a:t>AI Foundation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144899" y="4535999"/>
            <a:ext cx="23463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맑은 고딕"/>
              </a:rPr>
              <a:t>자체 모델 + KT Cloud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44899" y="4733999"/>
            <a:ext cx="23463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000" b="0" i="1">
                <a:solidFill>
                  <a:srgbClr val="E5B22D"/>
                </a:solidFill>
                <a:latin typeface="맑은 고딕"/>
              </a:rPr>
              <a:t>▸  외부 의존 없는 통제 가능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32000" y="5886000"/>
            <a:ext cx="11329200" cy="558000"/>
          </a:xfrm>
          <a:prstGeom prst="rect">
            <a:avLst/>
          </a:prstGeom>
          <a:solidFill>
            <a:srgbClr val="E5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40000" y="5940000"/>
            <a:ext cx="11113200" cy="32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2200" b="1" i="0">
                <a:solidFill>
                  <a:srgbClr val="07101E"/>
                </a:solidFill>
                <a:latin typeface="맑은 고딕"/>
              </a:rPr>
              <a:t>통제권을 가진 자가 AI 시대 금융을 이깁니다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0000" y="6228000"/>
            <a:ext cx="111132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200" b="0" i="0">
                <a:solidFill>
                  <a:srgbClr val="07101E"/>
                </a:solidFill>
                <a:latin typeface="맑은 고딕"/>
              </a:rPr>
              <a:t>AI를 통제하는 금융, 하나은행  ─  KT가 그 통제 인프라를 짓습니다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40000" y="6498000"/>
            <a:ext cx="11113200" cy="144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40000" y="6534000"/>
            <a:ext cx="103932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800" b="0" i="0">
                <a:solidFill>
                  <a:srgbClr val="A0B8CC"/>
                </a:solidFill>
                <a:latin typeface="맑은 고딕"/>
              </a:rPr>
              <a:t>하나은행 비정형 데이터 자산화 플랫폼 제안  |  2026.05  |  KT B2B 수주전략팀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933200" y="6534000"/>
            <a:ext cx="7200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r"/>
            <a:r>
              <a:rPr sz="800" b="0" i="0">
                <a:solidFill>
                  <a:srgbClr val="A0B8CC"/>
                </a:solidFill>
                <a:latin typeface="맑은 고딕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0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1224000"/>
          </a:xfrm>
          <a:prstGeom prst="rect">
            <a:avLst/>
          </a:prstGeom>
          <a:solidFill>
            <a:srgbClr val="0D1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" cy="1224000"/>
          </a:xfrm>
          <a:prstGeom prst="rect">
            <a:avLst/>
          </a:prstGeom>
          <a:solidFill>
            <a:srgbClr val="E5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32000" y="162000"/>
            <a:ext cx="3240000" cy="198000"/>
          </a:xfrm>
          <a:prstGeom prst="rect">
            <a:avLst/>
          </a:prstGeom>
          <a:solidFill>
            <a:srgbClr val="E5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2000" y="162000"/>
            <a:ext cx="32400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000" b="1" i="0">
                <a:solidFill>
                  <a:srgbClr val="07101E"/>
                </a:solidFill>
                <a:latin typeface="맑은 고딕"/>
              </a:rPr>
              <a:t>통제 × 운영  ·  HOW WE WIN THE CONTROL WAR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2000" y="396000"/>
            <a:ext cx="11329200" cy="43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AI는 구축이 아니라 운영에서 무너집니다.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" y="900000"/>
            <a:ext cx="11329200" cy="251999"/>
          </a:xfrm>
          <a:prstGeom prst="rect">
            <a:avLst/>
          </a:prstGeom>
          <a:noFill/>
        </p:spPr>
        <p:txBody>
          <a:bodyPr wrap="square" lIns="36000" rIns="36000" tIns="18000" bIns="18000">
            <a:spAutoFit/>
          </a:bodyPr>
          <a:lstStyle/>
          <a:p>
            <a:pPr algn="l"/>
            <a:r>
              <a:rPr sz="1400" b="0">
                <a:solidFill>
                  <a:srgbClr val="CCD6E0"/>
                </a:solidFill>
                <a:latin typeface="맑은 고딕"/>
              </a:rPr>
              <a:t>초기 구축보다 </a:t>
            </a:r>
            <a:r>
              <a:rPr sz="1400" b="1">
                <a:solidFill>
                  <a:srgbClr val="FF6B35"/>
                </a:solidFill>
                <a:latin typeface="맑은 고딕"/>
              </a:rPr>
              <a:t>장기 운영비</a:t>
            </a:r>
            <a:r>
              <a:rPr sz="1400" b="0">
                <a:solidFill>
                  <a:srgbClr val="CCD6E0"/>
                </a:solidFill>
                <a:latin typeface="맑은 고딕"/>
              </a:rPr>
              <a:t>가 무섭다  ─  지속 가능한 </a:t>
            </a:r>
            <a:r>
              <a:rPr sz="1400" b="1">
                <a:solidFill>
                  <a:srgbClr val="00D4FF"/>
                </a:solidFill>
                <a:latin typeface="맑은 고딕"/>
              </a:rPr>
              <a:t>통제 체계</a:t>
            </a:r>
            <a:r>
              <a:rPr sz="1400" b="0">
                <a:solidFill>
                  <a:srgbClr val="CCD6E0"/>
                </a:solidFill>
                <a:latin typeface="맑은 고딕"/>
              </a:rPr>
              <a:t>만이 답이다.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2000" y="1386000"/>
            <a:ext cx="144000" cy="198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8000" y="1386000"/>
            <a:ext cx="111132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맑은 고딕"/>
              </a:rPr>
              <a:t>PART 1.  통제 — 출처가 박힌 데이터만 학습하고, 인용 가능한 응답만 전달한다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000" y="1637999"/>
            <a:ext cx="11329200" cy="324000"/>
          </a:xfrm>
          <a:prstGeom prst="rect">
            <a:avLst/>
          </a:prstGeom>
          <a:solidFill>
            <a:srgbClr val="132A4D"/>
          </a:solidFill>
          <a:ln w="6350">
            <a:solidFill>
              <a:srgbClr val="1A4A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0000" y="1702799"/>
            <a:ext cx="18000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900" b="0" i="1">
                <a:solidFill>
                  <a:srgbClr val="A0B8CC"/>
                </a:solidFill>
                <a:latin typeface="맑은 고딕"/>
              </a:rPr>
              <a:t>▼  Cross-cutting Controls</a:t>
            </a:r>
          </a:p>
        </p:txBody>
      </p:sp>
      <p:sp>
        <p:nvSpPr>
          <p:cNvPr id="12" name="Oval 11"/>
          <p:cNvSpPr/>
          <p:nvPr/>
        </p:nvSpPr>
        <p:spPr>
          <a:xfrm>
            <a:off x="2880000" y="1738799"/>
            <a:ext cx="108000" cy="1080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24000" y="1709999"/>
            <a:ext cx="900000" cy="18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1" i="0">
                <a:solidFill>
                  <a:srgbClr val="FFD700"/>
                </a:solidFill>
                <a:latin typeface="맑은 고딕"/>
              </a:rPr>
              <a:t>출처</a:t>
            </a:r>
          </a:p>
        </p:txBody>
      </p:sp>
      <p:sp>
        <p:nvSpPr>
          <p:cNvPr id="14" name="Oval 13"/>
          <p:cNvSpPr/>
          <p:nvPr/>
        </p:nvSpPr>
        <p:spPr>
          <a:xfrm>
            <a:off x="4032000" y="1738799"/>
            <a:ext cx="108000" cy="108000"/>
          </a:xfrm>
          <a:prstGeom prst="ellipse">
            <a:avLst/>
          </a:prstGeom>
          <a:solidFill>
            <a:srgbClr val="B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6000" y="1709999"/>
            <a:ext cx="900000" cy="18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1" i="0">
                <a:solidFill>
                  <a:srgbClr val="B46BFF"/>
                </a:solidFill>
                <a:latin typeface="맑은 고딕"/>
              </a:rPr>
              <a:t>감사</a:t>
            </a:r>
          </a:p>
        </p:txBody>
      </p:sp>
      <p:sp>
        <p:nvSpPr>
          <p:cNvPr id="16" name="Oval 15"/>
          <p:cNvSpPr/>
          <p:nvPr/>
        </p:nvSpPr>
        <p:spPr>
          <a:xfrm>
            <a:off x="5184000" y="1738799"/>
            <a:ext cx="108000" cy="1080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1709999"/>
            <a:ext cx="900000" cy="18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맑은 고딕"/>
              </a:rPr>
              <a:t>접근</a:t>
            </a:r>
          </a:p>
        </p:txBody>
      </p:sp>
      <p:sp>
        <p:nvSpPr>
          <p:cNvPr id="18" name="Oval 17"/>
          <p:cNvSpPr/>
          <p:nvPr/>
        </p:nvSpPr>
        <p:spPr>
          <a:xfrm>
            <a:off x="6336000" y="1738799"/>
            <a:ext cx="108000" cy="108000"/>
          </a:xfrm>
          <a:prstGeom prst="ellipse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80000" y="1709999"/>
            <a:ext cx="900000" cy="18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1" i="0">
                <a:solidFill>
                  <a:srgbClr val="00E096"/>
                </a:solidFill>
                <a:latin typeface="맑은 고딕"/>
              </a:rPr>
              <a:t>품질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2000" y="2051999"/>
            <a:ext cx="2778300" cy="1224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2000" y="2051999"/>
            <a:ext cx="2778300" cy="39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2000" y="2087999"/>
            <a:ext cx="251999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900" b="1" i="0">
                <a:solidFill>
                  <a:srgbClr val="07101E"/>
                </a:solidFill>
                <a:latin typeface="맑은 고딕"/>
              </a:rPr>
              <a:t>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2000" y="2087999"/>
            <a:ext cx="2778300" cy="23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800" b="1" i="0">
                <a:solidFill>
                  <a:srgbClr val="07101E"/>
                </a:solidFill>
                <a:latin typeface="맑은 고딕"/>
              </a:rPr>
              <a:t>수집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2000" y="2303998"/>
            <a:ext cx="2778300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0" i="1">
                <a:solidFill>
                  <a:srgbClr val="07101E"/>
                </a:solidFill>
                <a:latin typeface="맑은 고딕"/>
              </a:rPr>
              <a:t>Ingest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0000" y="2519999"/>
            <a:ext cx="2562300" cy="32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200" b="1" i="0">
                <a:solidFill>
                  <a:srgbClr val="00D4FF"/>
                </a:solidFill>
                <a:latin typeface="맑은 고딕"/>
              </a:rPr>
              <a:t>원천 → 출처 태그 부착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0000" y="2987999"/>
            <a:ext cx="2562300" cy="180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0000" y="2987999"/>
            <a:ext cx="2562300" cy="18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000" b="1" i="1">
                <a:solidFill>
                  <a:srgbClr val="07101E"/>
                </a:solidFill>
                <a:latin typeface="맑은 고딕"/>
              </a:rPr>
              <a:t>→ raw + meta</a:t>
            </a:r>
          </a:p>
        </p:txBody>
      </p:sp>
      <p:sp>
        <p:nvSpPr>
          <p:cNvPr id="28" name="Chevron 27"/>
          <p:cNvSpPr/>
          <p:nvPr/>
        </p:nvSpPr>
        <p:spPr>
          <a:xfrm>
            <a:off x="3210300" y="2555999"/>
            <a:ext cx="72000" cy="251999"/>
          </a:xfrm>
          <a:prstGeom prst="chevron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82300" y="2051999"/>
            <a:ext cx="2778300" cy="1224000"/>
          </a:xfrm>
          <a:prstGeom prst="rect">
            <a:avLst/>
          </a:prstGeom>
          <a:solidFill>
            <a:srgbClr val="0D1F3C"/>
          </a:solidFill>
          <a:ln w="12700">
            <a:solidFill>
              <a:srgbClr val="B4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82300" y="2051999"/>
            <a:ext cx="2778300" cy="396000"/>
          </a:xfrm>
          <a:prstGeom prst="rect">
            <a:avLst/>
          </a:prstGeom>
          <a:solidFill>
            <a:srgbClr val="B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72300" y="2087999"/>
            <a:ext cx="251999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900" b="1" i="0">
                <a:solidFill>
                  <a:srgbClr val="07101E"/>
                </a:solidFill>
                <a:latin typeface="맑은 고딕"/>
              </a:rP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82300" y="2087999"/>
            <a:ext cx="2778300" cy="23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800" b="1" i="0">
                <a:solidFill>
                  <a:srgbClr val="07101E"/>
                </a:solidFill>
                <a:latin typeface="맑은 고딕"/>
              </a:rPr>
              <a:t>저장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82300" y="2303998"/>
            <a:ext cx="2778300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0" i="1">
                <a:solidFill>
                  <a:srgbClr val="07101E"/>
                </a:solidFill>
                <a:latin typeface="맑은 고딕"/>
              </a:rPr>
              <a:t>Govern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90300" y="2519999"/>
            <a:ext cx="2562300" cy="32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200" b="1" i="0">
                <a:solidFill>
                  <a:srgbClr val="B46BFF"/>
                </a:solidFill>
                <a:latin typeface="맑은 고딕"/>
              </a:rPr>
              <a:t>출처 보존 + 접근 통제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90300" y="2987999"/>
            <a:ext cx="2562300" cy="180000"/>
          </a:xfrm>
          <a:prstGeom prst="rect">
            <a:avLst/>
          </a:prstGeom>
          <a:solidFill>
            <a:srgbClr val="B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90300" y="2987999"/>
            <a:ext cx="2562300" cy="18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000" b="1" i="1">
                <a:solidFill>
                  <a:srgbClr val="07101E"/>
                </a:solidFill>
                <a:latin typeface="맑은 고딕"/>
              </a:rPr>
              <a:t>→ stored + audit</a:t>
            </a:r>
          </a:p>
        </p:txBody>
      </p:sp>
      <p:sp>
        <p:nvSpPr>
          <p:cNvPr id="37" name="Chevron 36"/>
          <p:cNvSpPr/>
          <p:nvPr/>
        </p:nvSpPr>
        <p:spPr>
          <a:xfrm>
            <a:off x="6060600" y="2555999"/>
            <a:ext cx="72000" cy="251999"/>
          </a:xfrm>
          <a:prstGeom prst="chevron">
            <a:avLst/>
          </a:prstGeom>
          <a:solidFill>
            <a:srgbClr val="B4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32600" y="2051999"/>
            <a:ext cx="2778300" cy="1224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32600" y="2051999"/>
            <a:ext cx="2778300" cy="3960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2600" y="2087999"/>
            <a:ext cx="251999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900" b="1" i="0">
                <a:solidFill>
                  <a:srgbClr val="07101E"/>
                </a:solidFill>
                <a:latin typeface="맑은 고딕"/>
              </a:rPr>
              <a:t>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32600" y="2087999"/>
            <a:ext cx="2778300" cy="23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800" b="1" i="0">
                <a:solidFill>
                  <a:srgbClr val="07101E"/>
                </a:solidFill>
                <a:latin typeface="맑은 고딕"/>
              </a:rPr>
              <a:t>가공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32600" y="2303998"/>
            <a:ext cx="2778300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0" i="1">
                <a:solidFill>
                  <a:srgbClr val="07101E"/>
                </a:solidFill>
                <a:latin typeface="맑은 고딕"/>
              </a:rPr>
              <a:t>Process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40600" y="2519999"/>
            <a:ext cx="2562300" cy="32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200" b="1" i="0">
                <a:solidFill>
                  <a:srgbClr val="00E096"/>
                </a:solidFill>
                <a:latin typeface="맑은 고딕"/>
              </a:rPr>
              <a:t>AI Ready化 + 정합성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40600" y="2987999"/>
            <a:ext cx="2562300" cy="1800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40600" y="2987999"/>
            <a:ext cx="2562300" cy="18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000" b="1" i="1">
                <a:solidFill>
                  <a:srgbClr val="07101E"/>
                </a:solidFill>
                <a:latin typeface="맑은 고딕"/>
              </a:rPr>
              <a:t>→ ai-ready</a:t>
            </a:r>
          </a:p>
        </p:txBody>
      </p:sp>
      <p:sp>
        <p:nvSpPr>
          <p:cNvPr id="46" name="Chevron 45"/>
          <p:cNvSpPr/>
          <p:nvPr/>
        </p:nvSpPr>
        <p:spPr>
          <a:xfrm>
            <a:off x="8910900" y="2555999"/>
            <a:ext cx="72000" cy="251999"/>
          </a:xfrm>
          <a:prstGeom prst="chevron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982900" y="2051999"/>
            <a:ext cx="2778300" cy="1224000"/>
          </a:xfrm>
          <a:prstGeom prst="rect">
            <a:avLst/>
          </a:prstGeom>
          <a:solidFill>
            <a:srgbClr val="0D1F3C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982900" y="2051999"/>
            <a:ext cx="2778300" cy="39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072900" y="2087999"/>
            <a:ext cx="251999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900" b="1" i="0">
                <a:solidFill>
                  <a:srgbClr val="07101E"/>
                </a:solidFill>
                <a:latin typeface="맑은 고딕"/>
              </a:rPr>
              <a:t>04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82900" y="2087999"/>
            <a:ext cx="2778300" cy="23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800" b="1" i="0">
                <a:solidFill>
                  <a:srgbClr val="07101E"/>
                </a:solidFill>
                <a:latin typeface="맑은 고딕"/>
              </a:rPr>
              <a:t>활용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82900" y="2303998"/>
            <a:ext cx="2778300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0" i="1">
                <a:solidFill>
                  <a:srgbClr val="07101E"/>
                </a:solidFill>
                <a:latin typeface="맑은 고딕"/>
              </a:rPr>
              <a:t>Serve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90900" y="2519999"/>
            <a:ext cx="2562300" cy="32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맑은 고딕"/>
              </a:rPr>
              <a:t>출처 인용 + 응답 검증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0900" y="2987999"/>
            <a:ext cx="2562300" cy="180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090900" y="2987999"/>
            <a:ext cx="2562300" cy="18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000" b="1" i="1">
                <a:solidFill>
                  <a:srgbClr val="07101E"/>
                </a:solidFill>
                <a:latin typeface="맑은 고딕"/>
              </a:rPr>
              <a:t>→ served + cited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000" y="3455999"/>
            <a:ext cx="144000" cy="19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8000" y="3455999"/>
            <a:ext cx="111132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200" b="1" i="0">
                <a:solidFill>
                  <a:srgbClr val="FF6B35"/>
                </a:solidFill>
                <a:latin typeface="맑은 고딕"/>
              </a:rPr>
              <a:t>PART 2.  운영 — 구축의 5배는 운영에서 나간다. 우리는 그 5배를 줄인다.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32000" y="3707998"/>
            <a:ext cx="3704400" cy="1296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32000" y="3707998"/>
            <a:ext cx="64800" cy="12960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6000" y="3797998"/>
            <a:ext cx="540000" cy="21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1" i="0">
                <a:solidFill>
                  <a:srgbClr val="00D4FF"/>
                </a:solidFill>
                <a:latin typeface="맑은 고딕"/>
              </a:rPr>
              <a:t>01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6000" y="3959997"/>
            <a:ext cx="3452401" cy="28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OpenSearch 기반 자산화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6000" y="4247998"/>
            <a:ext cx="3452401" cy="36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맑은 고딕"/>
              </a:rPr>
              <a:t>Elastic 상용 라이선스 락인 제거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40000" y="4499999"/>
            <a:ext cx="3488400" cy="413999"/>
          </a:xfrm>
          <a:prstGeom prst="rect">
            <a:avLst/>
          </a:prstGeom>
          <a:solidFill>
            <a:srgbClr val="18335A"/>
          </a:solidFill>
          <a:ln w="63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0000" y="4517999"/>
            <a:ext cx="34884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2200" b="1" i="0">
                <a:solidFill>
                  <a:srgbClr val="00D4FF"/>
                </a:solidFill>
                <a:latin typeface="맑은 고딕"/>
              </a:rPr>
              <a:t>−40%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40000" y="4751998"/>
            <a:ext cx="3488400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맑은 고딕"/>
              </a:rPr>
              <a:t>라이선스 비용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44400" y="3707998"/>
            <a:ext cx="3704400" cy="1296000"/>
          </a:xfrm>
          <a:prstGeom prst="rect">
            <a:avLst/>
          </a:prstGeom>
          <a:solidFill>
            <a:srgbClr val="0D1F3C"/>
          </a:solidFill>
          <a:ln w="1270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244400" y="3707998"/>
            <a:ext cx="64800" cy="1296000"/>
          </a:xfrm>
          <a:prstGeom prst="rect">
            <a:avLst/>
          </a:prstGeom>
          <a:solidFill>
            <a:srgbClr val="00E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8400" y="3797998"/>
            <a:ext cx="540000" cy="21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1" i="0">
                <a:solidFill>
                  <a:srgbClr val="00E096"/>
                </a:solidFill>
                <a:latin typeface="맑은 고딕"/>
              </a:rPr>
              <a:t>02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8400" y="3959997"/>
            <a:ext cx="3452401" cy="28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Hot · Warm · Cold 티어링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88400" y="4247998"/>
            <a:ext cx="3452401" cy="36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맑은 고딕"/>
              </a:rPr>
              <a:t>조회 빈도 기반 자동 이관 — 5년 TCO 압축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352400" y="4499999"/>
            <a:ext cx="3488400" cy="413999"/>
          </a:xfrm>
          <a:prstGeom prst="rect">
            <a:avLst/>
          </a:prstGeom>
          <a:solidFill>
            <a:srgbClr val="18335A"/>
          </a:solidFill>
          <a:ln w="6350">
            <a:solidFill>
              <a:srgbClr val="00E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52400" y="4517999"/>
            <a:ext cx="34884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2200" b="1" i="0">
                <a:solidFill>
                  <a:srgbClr val="00E096"/>
                </a:solidFill>
                <a:latin typeface="맑은 고딕"/>
              </a:rPr>
              <a:t>−60%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352400" y="4751998"/>
            <a:ext cx="3488400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맑은 고딕"/>
              </a:rPr>
              <a:t>스토리지 TCO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056800" y="3707998"/>
            <a:ext cx="3704400" cy="1296000"/>
          </a:xfrm>
          <a:prstGeom prst="rect">
            <a:avLst/>
          </a:prstGeom>
          <a:solidFill>
            <a:srgbClr val="0D1F3C"/>
          </a:solidFill>
          <a:ln w="12700">
            <a:solidFill>
              <a:srgbClr val="E5B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8056800" y="3707998"/>
            <a:ext cx="64800" cy="1296000"/>
          </a:xfrm>
          <a:prstGeom prst="rect">
            <a:avLst/>
          </a:prstGeom>
          <a:solidFill>
            <a:srgbClr val="E5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00800" y="3797998"/>
            <a:ext cx="540000" cy="216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1" i="0">
                <a:solidFill>
                  <a:srgbClr val="E5B22D"/>
                </a:solidFill>
                <a:latin typeface="맑은 고딕"/>
              </a:rPr>
              <a:t>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00800" y="3959997"/>
            <a:ext cx="3452401" cy="28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맑은 고딕"/>
              </a:rPr>
              <a:t>KT Cloud + 자체 모델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200800" y="4247998"/>
            <a:ext cx="3452401" cy="360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맑은 고딕"/>
              </a:rPr>
              <a:t>외부 토큰 비용 의존 제거 — 운영 예측 가능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164800" y="4499999"/>
            <a:ext cx="3488400" cy="413999"/>
          </a:xfrm>
          <a:prstGeom prst="rect">
            <a:avLst/>
          </a:prstGeom>
          <a:solidFill>
            <a:srgbClr val="18335A"/>
          </a:solidFill>
          <a:ln w="6350">
            <a:solidFill>
              <a:srgbClr val="E5B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164800" y="4517999"/>
            <a:ext cx="34884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2200" b="1" i="0">
                <a:solidFill>
                  <a:srgbClr val="E5B22D"/>
                </a:solidFill>
                <a:latin typeface="맑은 고딕"/>
              </a:rPr>
              <a:t>3:7 → 7:3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164800" y="4751998"/>
            <a:ext cx="3488400" cy="14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0" i="0">
                <a:solidFill>
                  <a:srgbClr val="CCD6E0"/>
                </a:solidFill>
                <a:latin typeface="맑은 고딕"/>
              </a:rPr>
              <a:t>구축 : 운영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32000" y="5147998"/>
            <a:ext cx="11329200" cy="558000"/>
          </a:xfrm>
          <a:prstGeom prst="rect">
            <a:avLst/>
          </a:prstGeom>
          <a:solidFill>
            <a:srgbClr val="E5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0000" y="5201998"/>
            <a:ext cx="11113200" cy="32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2200" b="1" i="0">
                <a:solidFill>
                  <a:srgbClr val="07101E"/>
                </a:solidFill>
                <a:latin typeface="맑은 고딕"/>
              </a:rPr>
              <a:t>통제 + 지속성 = 진짜 AI 운영 체계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0000" y="5489998"/>
            <a:ext cx="111132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1200" b="0" i="0">
                <a:solidFill>
                  <a:srgbClr val="07101E"/>
                </a:solidFill>
                <a:latin typeface="맑은 고딕"/>
              </a:rPr>
              <a:t>AI 도입이 아니라, 지속 가능한 AI 운영 체계를 짓습니다  ─  하나은행이 요구한 것은 바로 그것입니다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0000" y="6498000"/>
            <a:ext cx="11113200" cy="14400"/>
          </a:xfrm>
          <a:prstGeom prst="rect">
            <a:avLst/>
          </a:prstGeom>
          <a:solidFill>
            <a:srgbClr val="1A4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0000" y="6534000"/>
            <a:ext cx="103932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800" b="0" i="0">
                <a:solidFill>
                  <a:srgbClr val="A0B8CC"/>
                </a:solidFill>
                <a:latin typeface="맑은 고딕"/>
              </a:rPr>
              <a:t>하나은행 비정형 데이터 자산화 플랫폼 제안  |  2026.05  |  KT B2B 수주전략팀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933200" y="6534000"/>
            <a:ext cx="720000" cy="251999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r"/>
            <a:r>
              <a:rPr sz="800" b="0" i="0">
                <a:solidFill>
                  <a:srgbClr val="A0B8CC"/>
                </a:solidFill>
                <a:latin typeface="맑은 고딕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09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98" y="102870"/>
            <a:ext cx="11827404" cy="6652260"/>
          </a:xfrm>
          <a:prstGeom prst="ellipse">
            <a:avLst/>
          </a:prstGeom>
          <a:solidFill>
            <a:srgbClr val="060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388" y="617220"/>
            <a:ext cx="9998424" cy="5623560"/>
          </a:xfrm>
          <a:prstGeom prst="ellipse">
            <a:avLst/>
          </a:prstGeom>
          <a:solidFill>
            <a:srgbClr val="0812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011877" y="1131570"/>
            <a:ext cx="8169444" cy="4594860"/>
          </a:xfrm>
          <a:prstGeom prst="ellipse">
            <a:avLst/>
          </a:prstGeom>
          <a:solidFill>
            <a:srgbClr val="0B1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6368" y="1645920"/>
            <a:ext cx="6340464" cy="3566160"/>
          </a:xfrm>
          <a:prstGeom prst="ellipse">
            <a:avLst/>
          </a:prstGeom>
          <a:solidFill>
            <a:srgbClr val="0E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779892" y="2125980"/>
            <a:ext cx="4633416" cy="2606040"/>
          </a:xfrm>
          <a:prstGeom prst="ellipse">
            <a:avLst/>
          </a:prstGeom>
          <a:solidFill>
            <a:srgbClr val="12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11484" y="2537460"/>
            <a:ext cx="3170232" cy="1783080"/>
          </a:xfrm>
          <a:prstGeom prst="ellipse">
            <a:avLst/>
          </a:prstGeom>
          <a:solidFill>
            <a:srgbClr val="163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2110" y="2914650"/>
            <a:ext cx="1828980" cy="1028700"/>
          </a:xfrm>
          <a:prstGeom prst="ellipse">
            <a:avLst/>
          </a:prstGeom>
          <a:solidFill>
            <a:srgbClr val="1A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07048" y="960120"/>
            <a:ext cx="8779104" cy="4937760"/>
          </a:xfrm>
          <a:prstGeom prst="ellipse">
            <a:avLst/>
          </a:prstGeom>
          <a:noFill/>
          <a:ln w="5080">
            <a:solidFill>
              <a:srgbClr val="3024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26368" y="1645920"/>
            <a:ext cx="6340464" cy="3566160"/>
          </a:xfrm>
          <a:prstGeom prst="ellipse">
            <a:avLst/>
          </a:prstGeom>
          <a:noFill/>
          <a:ln w="7620">
            <a:solidFill>
              <a:srgbClr val="E5B2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45688" y="2331720"/>
            <a:ext cx="3901824" cy="2194560"/>
          </a:xfrm>
          <a:prstGeom prst="ellipse">
            <a:avLst/>
          </a:prstGeom>
          <a:noFill/>
          <a:ln w="3810">
            <a:solidFill>
              <a:srgbClr val="006A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6600" y="1881000"/>
            <a:ext cx="5040000" cy="2520000"/>
          </a:xfrm>
          <a:prstGeom prst="ellipse">
            <a:avLst/>
          </a:prstGeom>
          <a:solidFill>
            <a:srgbClr val="1C1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0" y="1764000"/>
            <a:ext cx="12193200" cy="19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0" i="0">
                <a:solidFill>
                  <a:srgbClr val="283E5C"/>
                </a:solidFill>
                <a:latin typeface="맑은 고딕"/>
              </a:rPr>
              <a:t>HANA BANK  ×  AI FOUNDATION  ×  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0" y="2034000"/>
            <a:ext cx="12193200" cy="468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3000" b="0" i="0">
                <a:solidFill>
                  <a:srgbClr val="FFFFFF"/>
                </a:solidFill>
                <a:latin typeface="맑은 고딕"/>
              </a:rPr>
              <a:t>통제 가능한 AI 위에서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556000"/>
            <a:ext cx="12193200" cy="61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4000" b="1" i="0">
                <a:solidFill>
                  <a:srgbClr val="E5B22D"/>
                </a:solidFill>
                <a:latin typeface="맑은 고딕"/>
              </a:rPr>
              <a:t>하나은행의 모든 판단이 움직인다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96600" y="3276000"/>
            <a:ext cx="1800000" cy="9000"/>
          </a:xfrm>
          <a:prstGeom prst="rect">
            <a:avLst/>
          </a:prstGeom>
          <a:solidFill>
            <a:srgbClr val="E5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95800" y="3247200"/>
            <a:ext cx="64800" cy="64800"/>
          </a:xfrm>
          <a:prstGeom prst="ellipse">
            <a:avLst/>
          </a:prstGeom>
          <a:solidFill>
            <a:srgbClr val="E5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32600" y="3247200"/>
            <a:ext cx="64800" cy="64800"/>
          </a:xfrm>
          <a:prstGeom prst="ellipse">
            <a:avLst/>
          </a:prstGeom>
          <a:solidFill>
            <a:srgbClr val="E5B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951200" y="3474000"/>
            <a:ext cx="162000" cy="1620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0" y="3690000"/>
            <a:ext cx="4064400" cy="23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500" b="0" i="0">
                <a:solidFill>
                  <a:srgbClr val="CCD6E0"/>
                </a:solidFill>
                <a:latin typeface="맑은 고딕"/>
              </a:rPr>
              <a:t>고객 경험은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3906000"/>
            <a:ext cx="4064400" cy="23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500" b="1" i="0">
                <a:solidFill>
                  <a:srgbClr val="00D4FF"/>
                </a:solidFill>
                <a:latin typeface="맑은 고딕"/>
              </a:rPr>
              <a:t>더 빨라지고</a:t>
            </a:r>
          </a:p>
        </p:txBody>
      </p:sp>
      <p:sp>
        <p:nvSpPr>
          <p:cNvPr id="22" name="Oval 21"/>
          <p:cNvSpPr/>
          <p:nvPr/>
        </p:nvSpPr>
        <p:spPr>
          <a:xfrm>
            <a:off x="6015600" y="3474000"/>
            <a:ext cx="162000" cy="162000"/>
          </a:xfrm>
          <a:prstGeom prst="ellipse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64400" y="3690000"/>
            <a:ext cx="4064400" cy="23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500" b="0" i="0">
                <a:solidFill>
                  <a:srgbClr val="CCD6E0"/>
                </a:solidFill>
                <a:latin typeface="맑은 고딕"/>
              </a:rPr>
              <a:t>직원 업무는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64400" y="3906000"/>
            <a:ext cx="4064400" cy="23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500" b="1" i="0">
                <a:solidFill>
                  <a:srgbClr val="FFD700"/>
                </a:solidFill>
                <a:latin typeface="맑은 고딕"/>
              </a:rPr>
              <a:t>더 효율화되며</a:t>
            </a:r>
          </a:p>
        </p:txBody>
      </p:sp>
      <p:sp>
        <p:nvSpPr>
          <p:cNvPr id="25" name="Oval 24"/>
          <p:cNvSpPr/>
          <p:nvPr/>
        </p:nvSpPr>
        <p:spPr>
          <a:xfrm>
            <a:off x="10080000" y="3474000"/>
            <a:ext cx="162000" cy="16200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8800" y="3690000"/>
            <a:ext cx="4064400" cy="23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500" b="0" i="0">
                <a:solidFill>
                  <a:srgbClr val="CCD6E0"/>
                </a:solidFill>
                <a:latin typeface="맑은 고딕"/>
              </a:rPr>
              <a:t>리스크는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8800" y="3906000"/>
            <a:ext cx="4064400" cy="23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1500" b="1" i="0">
                <a:solidFill>
                  <a:srgbClr val="FF6B35"/>
                </a:solidFill>
                <a:latin typeface="맑은 고딕"/>
              </a:rPr>
              <a:t>더 정교하게 통제된다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40000" y="4140000"/>
            <a:ext cx="9313200" cy="7200"/>
          </a:xfrm>
          <a:prstGeom prst="rect">
            <a:avLst/>
          </a:prstGeom>
          <a:solidFill>
            <a:srgbClr val="18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464000"/>
            <a:ext cx="12193200" cy="900000"/>
          </a:xfrm>
          <a:prstGeom prst="rect">
            <a:avLst/>
          </a:prstGeom>
          <a:solidFill>
            <a:srgbClr val="060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000" y="4626000"/>
            <a:ext cx="5556600" cy="3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r"/>
            <a:r>
              <a:rPr sz="2000" b="0" i="0">
                <a:solidFill>
                  <a:srgbClr val="A0B8CC"/>
                </a:solidFill>
                <a:latin typeface="맑은 고딕"/>
              </a:rPr>
              <a:t>AI를 도입하는 은행에서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6600" y="4626000"/>
            <a:ext cx="720000" cy="3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2400" b="1" i="0">
                <a:solidFill>
                  <a:srgbClr val="E5B22D"/>
                </a:solidFill>
                <a:latin typeface="맑은 고딕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8599" y="4626000"/>
            <a:ext cx="5484600" cy="342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맑은 고딕"/>
              </a:rPr>
              <a:t>AI를 운영하는 은행으로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0" y="6534000"/>
            <a:ext cx="12193200" cy="234000"/>
          </a:xfrm>
          <a:prstGeom prst="rect">
            <a:avLst/>
          </a:prstGeom>
          <a:noFill/>
        </p:spPr>
        <p:txBody>
          <a:bodyPr wrap="square" lIns="28800" rIns="28800" tIns="14400" bIns="14400">
            <a:spAutoFit/>
          </a:bodyPr>
          <a:lstStyle/>
          <a:p>
            <a:pPr algn="ctr"/>
            <a:r>
              <a:rPr sz="900" b="0" i="0">
                <a:solidFill>
                  <a:srgbClr val="20324A"/>
                </a:solidFill>
                <a:latin typeface="맑은 고딕"/>
              </a:rPr>
              <a:t>KT B2B 수주전략팀  ·  2026.05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